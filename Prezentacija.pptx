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97" r:id="rId2"/>
    <p:sldId id="298" r:id="rId3"/>
    <p:sldId id="278" r:id="rId4"/>
    <p:sldId id="279" r:id="rId5"/>
    <p:sldId id="280" r:id="rId6"/>
    <p:sldId id="320" r:id="rId7"/>
    <p:sldId id="323" r:id="rId8"/>
    <p:sldId id="283" r:id="rId9"/>
    <p:sldId id="302" r:id="rId10"/>
    <p:sldId id="303" r:id="rId11"/>
    <p:sldId id="285" r:id="rId12"/>
    <p:sldId id="305" r:id="rId13"/>
    <p:sldId id="306" r:id="rId14"/>
    <p:sldId id="287" r:id="rId15"/>
    <p:sldId id="321" r:id="rId16"/>
    <p:sldId id="289" r:id="rId17"/>
    <p:sldId id="308" r:id="rId18"/>
    <p:sldId id="309" r:id="rId19"/>
    <p:sldId id="311" r:id="rId20"/>
    <p:sldId id="312" r:id="rId21"/>
    <p:sldId id="314" r:id="rId22"/>
    <p:sldId id="315" r:id="rId23"/>
    <p:sldId id="316" r:id="rId24"/>
    <p:sldId id="319" r:id="rId25"/>
    <p:sldId id="318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71585" autoAdjust="0"/>
  </p:normalViewPr>
  <p:slideViewPr>
    <p:cSldViewPr snapToGrid="0">
      <p:cViewPr varScale="1">
        <p:scale>
          <a:sx n="114" d="100"/>
          <a:sy n="114" d="100"/>
        </p:scale>
        <p:origin x="20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BA5BAA-F06D-4D11-9D15-98F054BD7EB7}" type="datetimeFigureOut">
              <a:rPr lang="hr-HR" smtClean="0"/>
              <a:t>15.7.2026.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568B23-BB8D-422C-86A5-F436D5A61452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4212213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568B23-BB8D-422C-86A5-F436D5A61452}" type="slidenum">
              <a:rPr lang="hr-HR" smtClean="0"/>
              <a:t>1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03217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U ovoj prezentaciji </a:t>
            </a:r>
            <a:r>
              <a:rPr lang="hr-HR" dirty="0" err="1"/>
              <a:t>proci</a:t>
            </a:r>
            <a:r>
              <a:rPr lang="hr-HR" dirty="0"/>
              <a:t> </a:t>
            </a:r>
            <a:r>
              <a:rPr lang="hr-HR" dirty="0" err="1"/>
              <a:t>cemo</a:t>
            </a:r>
            <a:endParaRPr lang="hr-HR" dirty="0"/>
          </a:p>
          <a:p>
            <a:endParaRPr lang="hr-HR" dirty="0"/>
          </a:p>
          <a:p>
            <a:pPr marL="228600" indent="-228600">
              <a:buAutoNum type="arabicPeriod"/>
            </a:pPr>
            <a:r>
              <a:rPr lang="hr-HR" dirty="0"/>
              <a:t>Uvod i cilj rada</a:t>
            </a:r>
          </a:p>
          <a:p>
            <a:pPr marL="228600" indent="-228600">
              <a:buAutoNum type="arabicPeriod"/>
            </a:pPr>
            <a:endParaRPr lang="hr-HR" dirty="0"/>
          </a:p>
          <a:p>
            <a:pPr marL="228600" indent="-228600">
              <a:buAutoNum type="arabicPeriod"/>
            </a:pPr>
            <a:r>
              <a:rPr lang="hr-HR" dirty="0"/>
              <a:t>Zatim ćemo proći teme koje opisuju sustav koji sam u sklopu rada osmislio</a:t>
            </a:r>
          </a:p>
          <a:p>
            <a:pPr marL="228600" indent="-228600">
              <a:buAutoNum type="arabicPeriod"/>
            </a:pPr>
            <a:endParaRPr lang="hr-HR" dirty="0"/>
          </a:p>
          <a:p>
            <a:pPr marL="228600" indent="-228600">
              <a:buAutoNum type="arabicPeriod"/>
            </a:pPr>
            <a:r>
              <a:rPr lang="hr-HR" dirty="0"/>
              <a:t>Nakon toga ću vam prikazati načine testiranja i rezultate rada</a:t>
            </a:r>
          </a:p>
          <a:p>
            <a:pPr marL="228600" indent="-228600">
              <a:buAutoNum type="arabicPeriod"/>
            </a:pPr>
            <a:endParaRPr lang="hr-HR" dirty="0"/>
          </a:p>
          <a:p>
            <a:pPr marL="228600" indent="-228600">
              <a:buAutoNum type="arabicPeriod"/>
            </a:pPr>
            <a:r>
              <a:rPr lang="hr-HR" dirty="0"/>
              <a:t>I za kraj ćemo se dotaknuti analize i zaključka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568B23-BB8D-422C-86A5-F436D5A61452}" type="slidenum">
              <a:rPr lang="hr-HR" smtClean="0"/>
              <a:t>2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3854651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Motivacija</a:t>
            </a:r>
            <a:r>
              <a:rPr lang="en-US" dirty="0"/>
              <a:t> </a:t>
            </a:r>
            <a:r>
              <a:rPr lang="hr-HR" dirty="0"/>
              <a:t>ovog rada</a:t>
            </a:r>
            <a:r>
              <a:rPr lang="en-US" dirty="0"/>
              <a:t> je </a:t>
            </a:r>
            <a:r>
              <a:rPr lang="en-US" dirty="0" err="1"/>
              <a:t>sto</a:t>
            </a:r>
            <a:r>
              <a:rPr lang="en-US" dirty="0"/>
              <a:t> </a:t>
            </a:r>
            <a:r>
              <a:rPr lang="en-US" dirty="0" err="1"/>
              <a:t>broj</a:t>
            </a:r>
            <a:r>
              <a:rPr lang="en-US" dirty="0"/>
              <a:t> </a:t>
            </a:r>
            <a:r>
              <a:rPr lang="en-US" dirty="0" err="1"/>
              <a:t>uredaja</a:t>
            </a:r>
            <a:r>
              <a:rPr lang="en-US" dirty="0"/>
              <a:t> Internet </a:t>
            </a:r>
            <a:r>
              <a:rPr lang="en-US" dirty="0" err="1"/>
              <a:t>stvari</a:t>
            </a:r>
            <a:r>
              <a:rPr lang="en-US" dirty="0"/>
              <a:t> </a:t>
            </a:r>
            <a:r>
              <a:rPr lang="en-US" dirty="0" err="1"/>
              <a:t>naglo</a:t>
            </a:r>
            <a:r>
              <a:rPr lang="hr-HR" dirty="0"/>
              <a:t> raste kroz zadnjih par</a:t>
            </a:r>
            <a:r>
              <a:rPr lang="en-US" dirty="0"/>
              <a:t> </a:t>
            </a:r>
            <a:r>
              <a:rPr lang="en-US" dirty="0" err="1"/>
              <a:t>godina</a:t>
            </a:r>
            <a:r>
              <a:rPr lang="en-US" dirty="0"/>
              <a:t>, a </a:t>
            </a:r>
            <a:r>
              <a:rPr lang="en-US" dirty="0" err="1"/>
              <a:t>procjena</a:t>
            </a:r>
            <a:r>
              <a:rPr lang="en-US" dirty="0"/>
              <a:t> je da bi ta </a:t>
            </a:r>
            <a:r>
              <a:rPr lang="en-US" dirty="0" err="1"/>
              <a:t>brojka</a:t>
            </a:r>
            <a:r>
              <a:rPr lang="en-US" dirty="0"/>
              <a:t> </a:t>
            </a:r>
            <a:r>
              <a:rPr lang="en-US" dirty="0" err="1"/>
              <a:t>mogla</a:t>
            </a:r>
            <a:r>
              <a:rPr lang="en-US" dirty="0"/>
              <a:t> </a:t>
            </a:r>
            <a:r>
              <a:rPr lang="en-US" dirty="0" err="1"/>
              <a:t>doci</a:t>
            </a:r>
            <a:r>
              <a:rPr lang="en-US" dirty="0"/>
              <a:t> do 30 </a:t>
            </a:r>
            <a:r>
              <a:rPr lang="en-US" dirty="0" err="1"/>
              <a:t>milijardi</a:t>
            </a:r>
            <a:r>
              <a:rPr lang="en-US" dirty="0"/>
              <a:t> do </a:t>
            </a:r>
            <a:r>
              <a:rPr lang="en-US" dirty="0" err="1"/>
              <a:t>kraja</a:t>
            </a:r>
            <a:r>
              <a:rPr lang="en-US" dirty="0"/>
              <a:t> </a:t>
            </a:r>
            <a:r>
              <a:rPr lang="en-US" dirty="0" err="1"/>
              <a:t>desetljeca</a:t>
            </a:r>
            <a:endParaRPr lang="hr-HR" dirty="0"/>
          </a:p>
          <a:p>
            <a:endParaRPr lang="hr-HR" dirty="0"/>
          </a:p>
          <a:p>
            <a:r>
              <a:rPr lang="en-US" dirty="0"/>
              <a:t>Ti </a:t>
            </a:r>
            <a:r>
              <a:rPr lang="en-US" dirty="0" err="1"/>
              <a:t>uredaji</a:t>
            </a:r>
            <a:r>
              <a:rPr lang="en-US" dirty="0"/>
              <a:t>, </a:t>
            </a:r>
            <a:r>
              <a:rPr lang="hr-HR" dirty="0"/>
              <a:t>opremljenim senzorima i mrežnom opremom</a:t>
            </a:r>
            <a:r>
              <a:rPr lang="en-US" dirty="0"/>
              <a:t>,</a:t>
            </a:r>
            <a:r>
              <a:rPr lang="hr-HR" dirty="0"/>
              <a:t> </a:t>
            </a:r>
            <a:r>
              <a:rPr lang="en-US" dirty="0" err="1"/>
              <a:t>kontinuirano</a:t>
            </a:r>
            <a:r>
              <a:rPr lang="en-US" dirty="0"/>
              <a:t> </a:t>
            </a:r>
            <a:r>
              <a:rPr lang="en-US" dirty="0" err="1"/>
              <a:t>moraju</a:t>
            </a:r>
            <a:r>
              <a:rPr lang="en-US" dirty="0"/>
              <a:t> </a:t>
            </a:r>
            <a:r>
              <a:rPr lang="en-US" dirty="0" err="1"/>
              <a:t>slati</a:t>
            </a:r>
            <a:r>
              <a:rPr lang="en-US" dirty="0"/>
              <a:t> </a:t>
            </a:r>
            <a:r>
              <a:rPr lang="hr-HR" dirty="0"/>
              <a:t>telemetriju na poslužiteljsku stranu</a:t>
            </a:r>
            <a:r>
              <a:rPr lang="en-US" dirty="0"/>
              <a:t> za </a:t>
            </a:r>
            <a:r>
              <a:rPr lang="en-US" dirty="0" err="1"/>
              <a:t>daljnju</a:t>
            </a:r>
            <a:r>
              <a:rPr lang="en-US" dirty="0"/>
              <a:t> </a:t>
            </a:r>
            <a:r>
              <a:rPr lang="en-US" dirty="0" err="1"/>
              <a:t>obradu</a:t>
            </a:r>
            <a:endParaRPr lang="hr-HR" dirty="0"/>
          </a:p>
          <a:p>
            <a:endParaRPr lang="hr-HR" dirty="0"/>
          </a:p>
          <a:p>
            <a:r>
              <a:rPr lang="hr-HR" dirty="0"/>
              <a:t>Ključni izazov je ostvariti pouzdanu dostavu tih podataka bez gubitaka i bez dvostruke obrade</a:t>
            </a:r>
          </a:p>
          <a:p>
            <a:endParaRPr lang="hr-HR" dirty="0"/>
          </a:p>
          <a:p>
            <a:endParaRPr lang="hr-HR" dirty="0"/>
          </a:p>
          <a:p>
            <a:r>
              <a:rPr lang="hr-HR" dirty="0"/>
              <a:t>Ovdje klasični HTTP model donosi više ograničenja, od čega su neka</a:t>
            </a:r>
          </a:p>
          <a:p>
            <a:pPr marL="171450" indent="-171450">
              <a:buFontTx/>
              <a:buChar char="-"/>
            </a:pPr>
            <a:r>
              <a:rPr lang="hr-HR" dirty="0"/>
              <a:t>Sinkroni zahtjevi loše podnose prekide mreže</a:t>
            </a:r>
          </a:p>
          <a:p>
            <a:pPr marL="171450" indent="-171450">
              <a:buFontTx/>
              <a:buChar char="-"/>
            </a:pPr>
            <a:r>
              <a:rPr lang="hr-HR" dirty="0"/>
              <a:t>Tijesna sprega proizvođača i potrošača otežava skaliranje</a:t>
            </a:r>
          </a:p>
          <a:p>
            <a:pPr marL="171450" indent="-171450">
              <a:buFontTx/>
              <a:buChar char="-"/>
            </a:pPr>
            <a:endParaRPr lang="hr-HR" dirty="0"/>
          </a:p>
          <a:p>
            <a:pPr marL="171450" indent="-171450">
              <a:buFontTx/>
              <a:buChar char="-"/>
            </a:pPr>
            <a:endParaRPr lang="hr-HR" dirty="0"/>
          </a:p>
          <a:p>
            <a:pPr marL="0" indent="0">
              <a:buFontTx/>
              <a:buNone/>
            </a:pPr>
            <a:r>
              <a:rPr lang="hr-HR" dirty="0"/>
              <a:t>Kao odgovor tim ograničenjima javlja se MQTT protokol uz arhitekturu vođenu događajima</a:t>
            </a:r>
          </a:p>
          <a:p>
            <a:pPr marL="0" indent="0">
              <a:buFontTx/>
              <a:buNone/>
            </a:pPr>
            <a:endParaRPr lang="hr-HR" dirty="0"/>
          </a:p>
          <a:p>
            <a:pPr marL="0" indent="0">
              <a:buFontTx/>
              <a:buNone/>
            </a:pPr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568B23-BB8D-422C-86A5-F436D5A61452}" type="slidenum">
              <a:rPr lang="hr-HR" smtClean="0"/>
              <a:t>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941887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MQTT protokol je lagani protokol na principu objavi – pretplati</a:t>
            </a:r>
          </a:p>
          <a:p>
            <a:endParaRPr lang="hr-HR" dirty="0"/>
          </a:p>
          <a:p>
            <a:r>
              <a:rPr lang="hr-HR" dirty="0"/>
              <a:t>Glavna komponenta je posrednik, na engleskom broker, koji </a:t>
            </a:r>
            <a:r>
              <a:rPr lang="hr-HR" dirty="0" err="1"/>
              <a:t>razdavaja</a:t>
            </a:r>
            <a:r>
              <a:rPr lang="hr-HR" dirty="0"/>
              <a:t> proizvođače i potrošače poruka</a:t>
            </a:r>
          </a:p>
          <a:p>
            <a:endParaRPr lang="hr-HR" dirty="0"/>
          </a:p>
          <a:p>
            <a:r>
              <a:rPr lang="hr-HR" dirty="0"/>
              <a:t>Protokol omogućuje hijerarhijsko strukturiranje tema za lakše razdvajanje podataka</a:t>
            </a:r>
          </a:p>
          <a:p>
            <a:endParaRPr lang="hr-HR" dirty="0"/>
          </a:p>
          <a:p>
            <a:endParaRPr lang="hr-HR" dirty="0"/>
          </a:p>
          <a:p>
            <a:r>
              <a:rPr lang="hr-HR" dirty="0"/>
              <a:t>Jedna od bitnijih značajka su razine kvalitete usluge, </a:t>
            </a:r>
            <a:r>
              <a:rPr lang="hr-HR" dirty="0" err="1"/>
              <a:t>QoS</a:t>
            </a:r>
            <a:endParaRPr lang="hr-HR" dirty="0"/>
          </a:p>
          <a:p>
            <a:pPr marL="171450" indent="-171450">
              <a:buFontTx/>
              <a:buChar char="-"/>
            </a:pPr>
            <a:r>
              <a:rPr lang="hr-HR" dirty="0" err="1"/>
              <a:t>QoS</a:t>
            </a:r>
            <a:r>
              <a:rPr lang="hr-HR" dirty="0"/>
              <a:t> 0 predstavlja dostavu najviše jednom što znači da su mogući gubitci</a:t>
            </a:r>
          </a:p>
          <a:p>
            <a:pPr marL="171450" indent="-171450">
              <a:buFontTx/>
              <a:buChar char="-"/>
            </a:pPr>
            <a:r>
              <a:rPr lang="hr-HR" dirty="0" err="1"/>
              <a:t>QoS</a:t>
            </a:r>
            <a:r>
              <a:rPr lang="hr-HR" dirty="0"/>
              <a:t> 1 predstavlja dostavu barem jednom što miče mogućnost gubitka, ali uvodi mogućnost duplikata </a:t>
            </a:r>
          </a:p>
          <a:p>
            <a:pPr marL="171450" indent="-171450">
              <a:buFontTx/>
              <a:buChar char="-"/>
            </a:pPr>
            <a:r>
              <a:rPr lang="hr-HR" dirty="0" err="1"/>
              <a:t>QoS</a:t>
            </a:r>
            <a:r>
              <a:rPr lang="hr-HR" dirty="0"/>
              <a:t> 2 je dostava točno jednom, no ona donosi najveći režijski trošak</a:t>
            </a:r>
          </a:p>
          <a:p>
            <a:pPr marL="171450" indent="-171450">
              <a:buFontTx/>
              <a:buChar char="-"/>
            </a:pPr>
            <a:endParaRPr lang="hr-HR" dirty="0"/>
          </a:p>
          <a:p>
            <a:pPr marL="0" indent="0">
              <a:buFontTx/>
              <a:buNone/>
            </a:pPr>
            <a:r>
              <a:rPr lang="hr-HR" dirty="0"/>
              <a:t>U ovom radu odabrana je razina </a:t>
            </a:r>
            <a:r>
              <a:rPr lang="hr-HR" dirty="0" err="1"/>
              <a:t>QoS</a:t>
            </a:r>
            <a:r>
              <a:rPr lang="hr-HR" dirty="0"/>
              <a:t> 1 uz </a:t>
            </a:r>
            <a:r>
              <a:rPr lang="hr-HR" dirty="0" err="1"/>
              <a:t>deduplikaciju</a:t>
            </a:r>
            <a:r>
              <a:rPr lang="hr-HR" dirty="0"/>
              <a:t> na aplikacijskom sloju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 bi se </a:t>
            </a:r>
            <a:r>
              <a:rPr lang="en-US" dirty="0" err="1"/>
              <a:t>izbjegao</a:t>
            </a:r>
            <a:r>
              <a:rPr lang="en-US" dirty="0"/>
              <a:t> </a:t>
            </a:r>
            <a:r>
              <a:rPr lang="en-US" dirty="0" err="1"/>
              <a:t>veliki</a:t>
            </a:r>
            <a:r>
              <a:rPr lang="en-US" dirty="0"/>
              <a:t> </a:t>
            </a:r>
            <a:r>
              <a:rPr lang="en-US" dirty="0" err="1"/>
              <a:t>rezijski</a:t>
            </a:r>
            <a:r>
              <a:rPr lang="en-US" dirty="0"/>
              <a:t> </a:t>
            </a:r>
            <a:r>
              <a:rPr lang="en-US" dirty="0" err="1"/>
              <a:t>trosak</a:t>
            </a:r>
            <a:r>
              <a:rPr lang="en-US" dirty="0"/>
              <a:t> koji </a:t>
            </a:r>
            <a:r>
              <a:rPr lang="en-US" dirty="0" err="1"/>
              <a:t>donosi</a:t>
            </a:r>
            <a:r>
              <a:rPr lang="en-US" dirty="0"/>
              <a:t> QoS 2</a:t>
            </a:r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568B23-BB8D-422C-86A5-F436D5A61452}" type="slidenum">
              <a:rPr lang="hr-HR" smtClean="0"/>
              <a:t>4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797604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Cilj rada je napraviti prototip za pouzdanu obradu </a:t>
            </a:r>
            <a:r>
              <a:rPr lang="hr-HR" dirty="0" err="1"/>
              <a:t>IoT</a:t>
            </a:r>
            <a:r>
              <a:rPr lang="hr-HR" dirty="0"/>
              <a:t> telemetrije</a:t>
            </a:r>
          </a:p>
          <a:p>
            <a:endParaRPr lang="hr-HR" dirty="0"/>
          </a:p>
          <a:p>
            <a:r>
              <a:rPr lang="hr-HR" dirty="0"/>
              <a:t>Uvodi se slojevita strategija pouzdanosti od uređaja, preko posrednika i servisa skroz do baze</a:t>
            </a:r>
          </a:p>
          <a:p>
            <a:endParaRPr lang="hr-HR" dirty="0"/>
          </a:p>
          <a:p>
            <a:r>
              <a:rPr lang="hr-HR" dirty="0"/>
              <a:t>Bitno je ostvariti </a:t>
            </a:r>
            <a:r>
              <a:rPr lang="hr-HR" dirty="0" err="1"/>
              <a:t>idempotentnu</a:t>
            </a:r>
            <a:r>
              <a:rPr lang="hr-HR" dirty="0"/>
              <a:t> obradu gdje nijedna poruka nije izgubljena niti obrađena dvaput uz predvidljivu latenciju pod realnim opterećenjem</a:t>
            </a:r>
          </a:p>
          <a:p>
            <a:endParaRPr lang="hr-HR" dirty="0"/>
          </a:p>
          <a:p>
            <a:r>
              <a:rPr lang="hr-HR" dirty="0"/>
              <a:t>Sve ovo bilo je potrebno potvrditi eksperimentalno kroz šest scenarija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568B23-BB8D-422C-86A5-F436D5A61452}" type="slidenum">
              <a:rPr lang="hr-HR" smtClean="0"/>
              <a:t>5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6944778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</a:t>
            </a:r>
            <a:r>
              <a:rPr lang="en-US" dirty="0" err="1"/>
              <a:t>ovoj</a:t>
            </a:r>
            <a:r>
              <a:rPr lang="en-US" dirty="0"/>
              <a:t> </a:t>
            </a:r>
            <a:r>
              <a:rPr lang="en-US" dirty="0" err="1"/>
              <a:t>slici</a:t>
            </a:r>
            <a:r>
              <a:rPr lang="en-US" dirty="0"/>
              <a:t> </a:t>
            </a:r>
            <a:r>
              <a:rPr lang="en-US" dirty="0" err="1"/>
              <a:t>prikazana</a:t>
            </a:r>
            <a:r>
              <a:rPr lang="en-US" dirty="0"/>
              <a:t> je </a:t>
            </a:r>
            <a:r>
              <a:rPr lang="en-US" dirty="0" err="1"/>
              <a:t>arhitektura</a:t>
            </a:r>
            <a:r>
              <a:rPr lang="en-US" dirty="0"/>
              <a:t> </a:t>
            </a:r>
            <a:r>
              <a:rPr lang="en-US" dirty="0" err="1"/>
              <a:t>razvijenog</a:t>
            </a:r>
            <a:r>
              <a:rPr lang="en-US" dirty="0"/>
              <a:t> </a:t>
            </a:r>
            <a:r>
              <a:rPr lang="en-US" dirty="0" err="1"/>
              <a:t>sustava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podjeljena</a:t>
            </a:r>
            <a:r>
              <a:rPr lang="en-US" dirty="0"/>
              <a:t> je </a:t>
            </a:r>
            <a:r>
              <a:rPr lang="en-US" dirty="0" err="1"/>
              <a:t>na</a:t>
            </a:r>
            <a:r>
              <a:rPr lang="en-US" dirty="0"/>
              <a:t> tri </a:t>
            </a:r>
            <a:r>
              <a:rPr lang="en-US" dirty="0" err="1"/>
              <a:t>sloja</a:t>
            </a:r>
            <a:endParaRPr lang="en-US" dirty="0"/>
          </a:p>
          <a:p>
            <a:endParaRPr lang="en-US" dirty="0"/>
          </a:p>
          <a:p>
            <a:r>
              <a:rPr lang="en-US" dirty="0"/>
              <a:t>Percepcijski </a:t>
            </a:r>
            <a:r>
              <a:rPr lang="en-US" dirty="0" err="1"/>
              <a:t>sloj</a:t>
            </a:r>
            <a:r>
              <a:rPr lang="en-US" dirty="0"/>
              <a:t> cine esp32 </a:t>
            </a:r>
            <a:r>
              <a:rPr lang="en-US" dirty="0" err="1"/>
              <a:t>uredaji</a:t>
            </a:r>
            <a:r>
              <a:rPr lang="en-US" dirty="0"/>
              <a:t> s </a:t>
            </a:r>
            <a:r>
              <a:rPr lang="en-US" dirty="0" err="1"/>
              <a:t>pridruzenim</a:t>
            </a:r>
            <a:r>
              <a:rPr lang="en-US" dirty="0"/>
              <a:t> DHT11 </a:t>
            </a:r>
            <a:r>
              <a:rPr lang="en-US" dirty="0" err="1"/>
              <a:t>senzorima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Mrezni</a:t>
            </a:r>
            <a:r>
              <a:rPr lang="en-US" dirty="0"/>
              <a:t> </a:t>
            </a:r>
            <a:r>
              <a:rPr lang="en-US" dirty="0" err="1"/>
              <a:t>sloj</a:t>
            </a:r>
            <a:r>
              <a:rPr lang="en-US" dirty="0"/>
              <a:t> </a:t>
            </a:r>
            <a:r>
              <a:rPr lang="en-US" dirty="0" err="1"/>
              <a:t>cini</a:t>
            </a:r>
            <a:r>
              <a:rPr lang="en-US" dirty="0"/>
              <a:t> </a:t>
            </a:r>
            <a:r>
              <a:rPr lang="en-US" dirty="0" err="1"/>
              <a:t>posrednik</a:t>
            </a:r>
            <a:r>
              <a:rPr lang="en-US" dirty="0"/>
              <a:t> Eclipse </a:t>
            </a:r>
            <a:r>
              <a:rPr lang="en-US" dirty="0" err="1"/>
              <a:t>Mosquitto</a:t>
            </a:r>
            <a:endParaRPr lang="en-US" dirty="0"/>
          </a:p>
          <a:p>
            <a:endParaRPr lang="en-US" dirty="0"/>
          </a:p>
          <a:p>
            <a:r>
              <a:rPr lang="en-US" dirty="0"/>
              <a:t>I </a:t>
            </a:r>
            <a:r>
              <a:rPr lang="en-US" dirty="0" err="1"/>
              <a:t>aplikacijski</a:t>
            </a:r>
            <a:r>
              <a:rPr lang="en-US" dirty="0"/>
              <a:t> </a:t>
            </a:r>
            <a:r>
              <a:rPr lang="en-US" dirty="0" err="1"/>
              <a:t>sloj</a:t>
            </a:r>
            <a:r>
              <a:rPr lang="en-US" dirty="0"/>
              <a:t> cine </a:t>
            </a:r>
            <a:r>
              <a:rPr lang="en-US" dirty="0" err="1"/>
              <a:t>redom</a:t>
            </a:r>
            <a:r>
              <a:rPr lang="en-US" dirty="0"/>
              <a:t>:</a:t>
            </a:r>
          </a:p>
          <a:p>
            <a:pPr marL="171450" indent="-171450">
              <a:buFontTx/>
              <a:buChar char="-"/>
            </a:pPr>
            <a:r>
              <a:rPr lang="en-US" dirty="0"/>
              <a:t>2 mikroservisa </a:t>
            </a:r>
            <a:r>
              <a:rPr lang="en-US" dirty="0" err="1"/>
              <a:t>izradena</a:t>
            </a:r>
            <a:r>
              <a:rPr lang="en-US" dirty="0"/>
              <a:t> u </a:t>
            </a:r>
            <a:r>
              <a:rPr lang="en-US" dirty="0" err="1"/>
              <a:t>okviru</a:t>
            </a:r>
            <a:r>
              <a:rPr lang="en-US" dirty="0"/>
              <a:t> Spring Boot, </a:t>
            </a:r>
            <a:r>
              <a:rPr lang="en-US" dirty="0" err="1"/>
              <a:t>servis</a:t>
            </a:r>
            <a:r>
              <a:rPr lang="en-US" dirty="0"/>
              <a:t> za </a:t>
            </a:r>
            <a:r>
              <a:rPr lang="en-US" dirty="0" err="1"/>
              <a:t>unos</a:t>
            </a:r>
            <a:r>
              <a:rPr lang="en-US" dirty="0"/>
              <a:t> I </a:t>
            </a:r>
            <a:r>
              <a:rPr lang="en-US" dirty="0" err="1"/>
              <a:t>servis</a:t>
            </a:r>
            <a:r>
              <a:rPr lang="en-US" dirty="0"/>
              <a:t> za </a:t>
            </a:r>
            <a:r>
              <a:rPr lang="en-US" dirty="0" err="1"/>
              <a:t>upozorenja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Redis </a:t>
            </a:r>
            <a:r>
              <a:rPr lang="en-US" dirty="0" err="1"/>
              <a:t>pohrana</a:t>
            </a:r>
            <a:r>
              <a:rPr lang="en-US" dirty="0"/>
              <a:t> za </a:t>
            </a:r>
            <a:r>
              <a:rPr lang="en-US" dirty="0" err="1"/>
              <a:t>brzu</a:t>
            </a:r>
            <a:r>
              <a:rPr lang="en-US" dirty="0"/>
              <a:t> deduplikacije</a:t>
            </a:r>
          </a:p>
          <a:p>
            <a:pPr marL="171450" indent="-171450">
              <a:buFontTx/>
              <a:buChar char="-"/>
            </a:pPr>
            <a:r>
              <a:rPr lang="en-US" dirty="0"/>
              <a:t>PostgreSQL </a:t>
            </a:r>
            <a:r>
              <a:rPr lang="en-US" dirty="0" err="1"/>
              <a:t>uz</a:t>
            </a:r>
            <a:r>
              <a:rPr lang="en-US" dirty="0"/>
              <a:t> </a:t>
            </a:r>
            <a:r>
              <a:rPr lang="en-US" dirty="0" err="1"/>
              <a:t>ekstenziju</a:t>
            </a:r>
            <a:r>
              <a:rPr lang="en-US" dirty="0"/>
              <a:t> </a:t>
            </a:r>
            <a:r>
              <a:rPr lang="en-US" dirty="0" err="1"/>
              <a:t>TimescaleDB</a:t>
            </a:r>
            <a:r>
              <a:rPr lang="en-US" dirty="0"/>
              <a:t> za </a:t>
            </a:r>
            <a:r>
              <a:rPr lang="en-US" dirty="0" err="1"/>
              <a:t>trajnu</a:t>
            </a:r>
            <a:r>
              <a:rPr lang="en-US" dirty="0"/>
              <a:t> </a:t>
            </a:r>
            <a:r>
              <a:rPr lang="en-US" dirty="0" err="1"/>
              <a:t>pohranu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I webhook-mock </a:t>
            </a:r>
            <a:r>
              <a:rPr lang="en-US" dirty="0" err="1"/>
              <a:t>servis</a:t>
            </a:r>
            <a:r>
              <a:rPr lang="en-US" dirty="0"/>
              <a:t> za </a:t>
            </a:r>
            <a:r>
              <a:rPr lang="en-US" dirty="0" err="1"/>
              <a:t>primanje</a:t>
            </a:r>
            <a:r>
              <a:rPr lang="en-US" dirty="0"/>
              <a:t> </a:t>
            </a:r>
            <a:r>
              <a:rPr lang="en-US" dirty="0" err="1"/>
              <a:t>obavijesti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568B23-BB8D-422C-86A5-F436D5A61452}" type="slidenum">
              <a:rPr lang="hr-HR" smtClean="0"/>
              <a:t>6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560392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1200" b="0" i="0" dirty="0">
                <a:solidFill>
                  <a:srgbClr val="000000"/>
                </a:solidFill>
                <a:latin typeface="Arial"/>
              </a:rPr>
              <a:t>●  ESP32: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očita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senzor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,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generira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msg_id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,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objavi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 (QoS 1)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endParaRPr lang="en-US" sz="12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12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Mosquitto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: PUBACK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i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isporuka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pretplatnicima</a:t>
            </a:r>
            <a:endParaRPr lang="en-US" sz="12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endParaRPr lang="en-US" sz="12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1200" b="0" i="0" dirty="0">
                <a:solidFill>
                  <a:srgbClr val="000000"/>
                </a:solidFill>
                <a:latin typeface="Arial"/>
              </a:rPr>
              <a:t>●  Servis za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unos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: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provjera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duplikata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 →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upis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 u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bazu</a:t>
            </a:r>
            <a:endParaRPr lang="en-US" sz="12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endParaRPr lang="en-US" sz="12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1200" b="0" i="0" dirty="0">
                <a:solidFill>
                  <a:srgbClr val="000000"/>
                </a:solidFill>
                <a:latin typeface="Arial"/>
              </a:rPr>
              <a:t>●  Redis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oznaka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tek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nakon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uspješnog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upisa</a:t>
            </a:r>
            <a:endParaRPr lang="en-US" sz="12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endParaRPr lang="en-US" sz="12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12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Ručna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potvrda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posredniku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tek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 po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dovršenoj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obradi</a:t>
            </a:r>
            <a:endParaRPr lang="en-US" sz="12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endParaRPr lang="en-US" sz="12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lang="en-US" sz="1200" b="0" i="0" dirty="0">
                <a:solidFill>
                  <a:srgbClr val="000000"/>
                </a:solidFill>
                <a:latin typeface="Arial"/>
              </a:rPr>
              <a:t>●  Servis za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upozorenja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: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vrednovanje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1200" b="0" i="0" dirty="0" err="1">
                <a:solidFill>
                  <a:srgbClr val="000000"/>
                </a:solidFill>
                <a:latin typeface="Arial"/>
              </a:rPr>
              <a:t>pravila</a:t>
            </a:r>
            <a:r>
              <a:rPr lang="en-US" sz="1200" b="0" i="0" dirty="0">
                <a:solidFill>
                  <a:srgbClr val="000000"/>
                </a:solidFill>
                <a:latin typeface="Arial"/>
              </a:rPr>
              <a:t> + webhook</a:t>
            </a:r>
          </a:p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568B23-BB8D-422C-86A5-F436D5A61452}" type="slidenum">
              <a:rPr lang="hr-HR" smtClean="0"/>
              <a:t>7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9288598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Deduplikacija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idempotentnost </a:t>
            </a:r>
            <a:r>
              <a:rPr lang="en-US" dirty="0" err="1"/>
              <a:t>ostvareni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u </a:t>
            </a:r>
            <a:r>
              <a:rPr lang="en-US" dirty="0" err="1"/>
              <a:t>potpunosti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aplikacijskom</a:t>
            </a:r>
            <a:r>
              <a:rPr lang="en-US" dirty="0"/>
              <a:t> </a:t>
            </a:r>
            <a:r>
              <a:rPr lang="en-US" dirty="0" err="1"/>
              <a:t>sloju</a:t>
            </a:r>
            <a:endParaRPr lang="en-US" dirty="0"/>
          </a:p>
          <a:p>
            <a:endParaRPr lang="hr-HR" dirty="0"/>
          </a:p>
          <a:p>
            <a:r>
              <a:rPr lang="hr-HR" dirty="0"/>
              <a:t>Tok odluke prikazan je na grafikonu</a:t>
            </a:r>
          </a:p>
          <a:p>
            <a:endParaRPr lang="en-US" dirty="0"/>
          </a:p>
          <a:p>
            <a:r>
              <a:rPr lang="en-US" dirty="0" err="1"/>
              <a:t>Prvo</a:t>
            </a:r>
            <a:r>
              <a:rPr lang="en-US" dirty="0"/>
              <a:t> se </a:t>
            </a:r>
            <a:r>
              <a:rPr lang="en-US" dirty="0" err="1"/>
              <a:t>na</a:t>
            </a:r>
            <a:r>
              <a:rPr lang="en-US" dirty="0"/>
              <a:t> ESP32 </a:t>
            </a:r>
            <a:r>
              <a:rPr lang="en-US" dirty="0" err="1"/>
              <a:t>mikroupravljacima</a:t>
            </a:r>
            <a:r>
              <a:rPr lang="en-US" dirty="0"/>
              <a:t> </a:t>
            </a:r>
            <a:r>
              <a:rPr lang="en-US" dirty="0" err="1"/>
              <a:t>generira</a:t>
            </a:r>
            <a:r>
              <a:rPr lang="en-US" dirty="0"/>
              <a:t> </a:t>
            </a:r>
            <a:r>
              <a:rPr lang="en-US" dirty="0" err="1"/>
              <a:t>jedinstveni</a:t>
            </a:r>
            <a:r>
              <a:rPr lang="en-US" dirty="0"/>
              <a:t> </a:t>
            </a:r>
            <a:r>
              <a:rPr lang="en-US" dirty="0" err="1"/>
              <a:t>msg_id</a:t>
            </a:r>
            <a:r>
              <a:rPr lang="en-US" dirty="0"/>
              <a:t> koji se </a:t>
            </a:r>
            <a:r>
              <a:rPr lang="en-US" dirty="0" err="1"/>
              <a:t>sastoji</a:t>
            </a:r>
            <a:r>
              <a:rPr lang="en-US" dirty="0"/>
              <a:t> od </a:t>
            </a:r>
            <a:r>
              <a:rPr lang="en-US" dirty="0" err="1"/>
              <a:t>identifikatora</a:t>
            </a:r>
            <a:r>
              <a:rPr lang="en-US" dirty="0"/>
              <a:t> </a:t>
            </a:r>
            <a:r>
              <a:rPr lang="en-US" dirty="0" err="1"/>
              <a:t>ure</a:t>
            </a:r>
            <a:r>
              <a:rPr lang="hr-HR" dirty="0" err="1"/>
              <a:t>đaja</a:t>
            </a:r>
            <a:r>
              <a:rPr lang="hr-HR" dirty="0"/>
              <a:t>, trenutne milisekunde epohe i brojača</a:t>
            </a:r>
          </a:p>
          <a:p>
            <a:endParaRPr lang="hr-HR" dirty="0"/>
          </a:p>
          <a:p>
            <a:r>
              <a:rPr lang="hr-HR" dirty="0"/>
              <a:t>Sve poruke sa </a:t>
            </a:r>
            <a:r>
              <a:rPr lang="hr-HR" dirty="0" err="1"/>
              <a:t>mikroupravljaca</a:t>
            </a:r>
            <a:r>
              <a:rPr lang="hr-HR" dirty="0"/>
              <a:t> </a:t>
            </a:r>
            <a:r>
              <a:rPr lang="hr-HR" dirty="0" err="1"/>
              <a:t>sadrze</a:t>
            </a:r>
            <a:r>
              <a:rPr lang="hr-HR" dirty="0"/>
              <a:t> taj </a:t>
            </a:r>
            <a:r>
              <a:rPr lang="hr-HR" dirty="0" err="1"/>
              <a:t>msg</a:t>
            </a:r>
            <a:r>
              <a:rPr lang="hr-HR" dirty="0"/>
              <a:t> </a:t>
            </a:r>
            <a:r>
              <a:rPr lang="hr-HR" dirty="0" err="1"/>
              <a:t>id</a:t>
            </a:r>
            <a:r>
              <a:rPr lang="hr-HR" dirty="0"/>
              <a:t> i na temelju njega se radi provjera postojanja u </a:t>
            </a:r>
            <a:r>
              <a:rPr lang="hr-HR" dirty="0" err="1"/>
              <a:t>redisu</a:t>
            </a:r>
            <a:r>
              <a:rPr lang="hr-HR" dirty="0"/>
              <a:t> metodom EXISTS koja ima vremensku </a:t>
            </a:r>
            <a:r>
              <a:rPr lang="hr-HR" dirty="0" err="1"/>
              <a:t>slozenost</a:t>
            </a:r>
            <a:r>
              <a:rPr lang="hr-HR" dirty="0"/>
              <a:t> O(1) u trajanju reda manje od jedne milisekunde</a:t>
            </a:r>
          </a:p>
          <a:p>
            <a:endParaRPr lang="hr-HR" dirty="0"/>
          </a:p>
          <a:p>
            <a:r>
              <a:rPr lang="hr-HR" dirty="0"/>
              <a:t>Ako identifikator </a:t>
            </a:r>
            <a:r>
              <a:rPr lang="hr-HR" dirty="0" err="1"/>
              <a:t>vec</a:t>
            </a:r>
            <a:r>
              <a:rPr lang="hr-HR" dirty="0"/>
              <a:t> postoji u </a:t>
            </a:r>
            <a:r>
              <a:rPr lang="hr-HR" dirty="0" err="1"/>
              <a:t>redisu</a:t>
            </a:r>
            <a:r>
              <a:rPr lang="hr-HR" dirty="0"/>
              <a:t> ona se odbacuje jer je duplikat</a:t>
            </a:r>
          </a:p>
          <a:p>
            <a:endParaRPr lang="hr-HR" dirty="0"/>
          </a:p>
          <a:p>
            <a:r>
              <a:rPr lang="hr-HR" dirty="0"/>
              <a:t>Ako ne postoji radi se spremanje u bazu</a:t>
            </a:r>
          </a:p>
          <a:p>
            <a:endParaRPr lang="hr-HR" dirty="0"/>
          </a:p>
          <a:p>
            <a:r>
              <a:rPr lang="hr-HR" dirty="0"/>
              <a:t>Tek nakon toga postavlja se </a:t>
            </a:r>
            <a:r>
              <a:rPr lang="hr-HR" dirty="0" err="1"/>
              <a:t>kljuc</a:t>
            </a:r>
            <a:r>
              <a:rPr lang="hr-HR" dirty="0"/>
              <a:t> u </a:t>
            </a:r>
            <a:r>
              <a:rPr lang="hr-HR" dirty="0" err="1"/>
              <a:t>redis</a:t>
            </a:r>
            <a:r>
              <a:rPr lang="hr-HR" dirty="0"/>
              <a:t> metodom SET i TTL-om od 3600 sekundi cime se pokrivaju svi realni prozori </a:t>
            </a:r>
            <a:r>
              <a:rPr lang="hr-HR" dirty="0" err="1"/>
              <a:t>retransimisije</a:t>
            </a:r>
            <a:endParaRPr lang="hr-HR" dirty="0"/>
          </a:p>
          <a:p>
            <a:endParaRPr lang="hr-HR" dirty="0"/>
          </a:p>
          <a:p>
            <a:endParaRPr lang="hr-HR" dirty="0"/>
          </a:p>
          <a:p>
            <a:r>
              <a:rPr lang="hr-HR" dirty="0"/>
              <a:t>Dodatno valja napomenuti da su prostori </a:t>
            </a:r>
            <a:r>
              <a:rPr lang="hr-HR" dirty="0" err="1"/>
              <a:t>kljuceva</a:t>
            </a:r>
            <a:r>
              <a:rPr lang="hr-HR" dirty="0"/>
              <a:t> dva mikroservisa odvojeni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568B23-BB8D-422C-86A5-F436D5A61452}" type="slidenum">
              <a:rPr lang="hr-HR" smtClean="0"/>
              <a:t>8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483828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Pouzdanost obrade poruka u ovom sustavu ne počiva na jednom mehanizmu već na više komplementarnih slojeva</a:t>
            </a:r>
          </a:p>
          <a:p>
            <a:endParaRPr lang="hr-HR" dirty="0"/>
          </a:p>
          <a:p>
            <a:r>
              <a:rPr lang="hr-HR" dirty="0"/>
              <a:t>Sami ESP32 uređaji pouzdanosti doprinose</a:t>
            </a:r>
          </a:p>
          <a:p>
            <a:pPr marL="171450" indent="-171450">
              <a:buFontTx/>
              <a:buChar char="-"/>
            </a:pPr>
            <a:r>
              <a:rPr lang="hr-HR" dirty="0"/>
              <a:t>Blokirajućim početnim spajanje na WiFi i MQTT  te </a:t>
            </a:r>
            <a:r>
              <a:rPr lang="hr-HR" dirty="0" err="1"/>
              <a:t>neblokirajućim</a:t>
            </a:r>
            <a:r>
              <a:rPr lang="hr-HR" dirty="0"/>
              <a:t> ponovnim spajanje  na WiFi i MQTT nakon gubitka konekcije</a:t>
            </a:r>
          </a:p>
          <a:p>
            <a:pPr marL="171450" indent="-171450">
              <a:buFontTx/>
              <a:buChar char="-"/>
            </a:pPr>
            <a:r>
              <a:rPr lang="hr-HR" dirty="0"/>
              <a:t>Sadrže i kružni </a:t>
            </a:r>
            <a:r>
              <a:rPr lang="hr-HR" dirty="0" err="1"/>
              <a:t>međuspremnikom</a:t>
            </a:r>
            <a:r>
              <a:rPr lang="hr-HR" dirty="0"/>
              <a:t> koji neuspješno isporučene poruke ne odbacuje već sprema u memoriju uređaja za naknadno slanje</a:t>
            </a:r>
          </a:p>
          <a:p>
            <a:pPr marL="171450" indent="-171450">
              <a:buFontTx/>
              <a:buChar char="-"/>
            </a:pPr>
            <a:endParaRPr lang="hr-HR" dirty="0"/>
          </a:p>
          <a:p>
            <a:pPr marL="0" indent="0">
              <a:buFontTx/>
              <a:buNone/>
            </a:pPr>
            <a:r>
              <a:rPr lang="en-US" dirty="0"/>
              <a:t>Na </a:t>
            </a:r>
            <a:r>
              <a:rPr lang="en-US" dirty="0" err="1"/>
              <a:t>posredniku</a:t>
            </a:r>
            <a:r>
              <a:rPr lang="en-US" dirty="0"/>
              <a:t> </a:t>
            </a:r>
            <a:r>
              <a:rPr lang="en-US" dirty="0" err="1"/>
              <a:t>postoje</a:t>
            </a:r>
            <a:r>
              <a:rPr lang="en-US" dirty="0"/>
              <a:t> </a:t>
            </a:r>
            <a:r>
              <a:rPr lang="en-US" dirty="0" err="1"/>
              <a:t>dva</a:t>
            </a:r>
            <a:r>
              <a:rPr lang="en-US" dirty="0"/>
              <a:t> </a:t>
            </a:r>
            <a:r>
              <a:rPr lang="en-US" dirty="0" err="1"/>
              <a:t>glavna</a:t>
            </a:r>
            <a:r>
              <a:rPr lang="en-US" dirty="0"/>
              <a:t> </a:t>
            </a:r>
            <a:r>
              <a:rPr lang="en-US" dirty="0" err="1"/>
              <a:t>mehanizma</a:t>
            </a:r>
            <a:r>
              <a:rPr lang="en-US" dirty="0"/>
              <a:t>.</a:t>
            </a:r>
          </a:p>
          <a:p>
            <a:pPr marL="171450" indent="-171450">
              <a:buFontTx/>
              <a:buChar char="-"/>
            </a:pPr>
            <a:r>
              <a:rPr lang="en-US" dirty="0" err="1"/>
              <a:t>Prvo</a:t>
            </a:r>
            <a:r>
              <a:rPr lang="en-US" dirty="0"/>
              <a:t>, </a:t>
            </a:r>
            <a:r>
              <a:rPr lang="hr-HR" dirty="0"/>
              <a:t>klijenti se na posrednika spajanju sa uključenom </a:t>
            </a:r>
            <a:r>
              <a:rPr lang="hr-HR" dirty="0" err="1"/>
              <a:t>perzistentnom</a:t>
            </a:r>
            <a:r>
              <a:rPr lang="hr-HR" dirty="0"/>
              <a:t> sesijom, to znači da posrednik pamti pretplate i zadržava neisporučene poruke za pretplatnika koji je trenutno </a:t>
            </a:r>
            <a:r>
              <a:rPr lang="hr-HR" dirty="0" err="1"/>
              <a:t>odspojen</a:t>
            </a:r>
            <a:endParaRPr lang="hr-HR" dirty="0"/>
          </a:p>
          <a:p>
            <a:pPr marL="171450" indent="-171450">
              <a:buFontTx/>
              <a:buChar char="-"/>
            </a:pPr>
            <a:r>
              <a:rPr lang="hr-HR" dirty="0"/>
              <a:t>Drugo, posrednik je pokrenut s uključenom </a:t>
            </a:r>
            <a:r>
              <a:rPr lang="hr-HR" dirty="0" err="1"/>
              <a:t>perzistencijom</a:t>
            </a:r>
            <a:r>
              <a:rPr lang="hr-HR" dirty="0"/>
              <a:t> zbog čega stanje sesija i neisporučene poruke zapisuje na disk, čime se osigurava da i sam pad posrednika ne dovodi do gubitka poruka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568B23-BB8D-422C-86A5-F436D5A61452}" type="slidenum">
              <a:rPr lang="hr-HR" smtClean="0"/>
              <a:t>9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9380056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Na razini servisa poruka se potvrđuje ručno, i to tek nakon što je uspješno obrađena i pohranjena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To </a:t>
            </a:r>
            <a:r>
              <a:rPr lang="en-US" dirty="0" err="1"/>
              <a:t>znaci</a:t>
            </a:r>
            <a:r>
              <a:rPr lang="en-US" dirty="0"/>
              <a:t> da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eventualne</a:t>
            </a:r>
            <a:r>
              <a:rPr lang="en-US" dirty="0"/>
              <a:t> </a:t>
            </a:r>
            <a:r>
              <a:rPr lang="en-US" dirty="0" err="1"/>
              <a:t>prijelazne</a:t>
            </a:r>
            <a:r>
              <a:rPr lang="en-US" dirty="0"/>
              <a:t> </a:t>
            </a:r>
            <a:r>
              <a:rPr lang="en-US" dirty="0" err="1"/>
              <a:t>greske</a:t>
            </a:r>
            <a:r>
              <a:rPr lang="en-US" dirty="0"/>
              <a:t> </a:t>
            </a:r>
            <a:r>
              <a:rPr lang="en-US" dirty="0" err="1"/>
              <a:t>biti</a:t>
            </a:r>
            <a:r>
              <a:rPr lang="en-US" dirty="0"/>
              <a:t> </a:t>
            </a:r>
            <a:r>
              <a:rPr lang="en-US" dirty="0" err="1"/>
              <a:t>oporavljive</a:t>
            </a:r>
            <a:r>
              <a:rPr lang="en-US" dirty="0"/>
              <a:t> </a:t>
            </a:r>
            <a:r>
              <a:rPr lang="en-US" dirty="0" err="1"/>
              <a:t>jer</a:t>
            </a:r>
            <a:r>
              <a:rPr lang="en-US" dirty="0"/>
              <a:t> </a:t>
            </a:r>
            <a:r>
              <a:rPr lang="en-US" dirty="0" err="1"/>
              <a:t>poruka</a:t>
            </a:r>
            <a:r>
              <a:rPr lang="en-US" dirty="0"/>
              <a:t> </a:t>
            </a:r>
            <a:r>
              <a:rPr lang="en-US" dirty="0" err="1"/>
              <a:t>nece</a:t>
            </a:r>
            <a:r>
              <a:rPr lang="en-US" dirty="0"/>
              <a:t> </a:t>
            </a:r>
            <a:r>
              <a:rPr lang="en-US" dirty="0" err="1"/>
              <a:t>biti</a:t>
            </a:r>
            <a:r>
              <a:rPr lang="en-US" dirty="0"/>
              <a:t> </a:t>
            </a:r>
            <a:r>
              <a:rPr lang="en-US" dirty="0" err="1"/>
              <a:t>potvrdena</a:t>
            </a:r>
            <a:r>
              <a:rPr lang="en-US" dirty="0"/>
              <a:t> </a:t>
            </a:r>
            <a:r>
              <a:rPr lang="en-US" dirty="0" err="1"/>
              <a:t>sto</a:t>
            </a:r>
            <a:r>
              <a:rPr lang="en-US" dirty="0"/>
              <a:t> </a:t>
            </a:r>
            <a:r>
              <a:rPr lang="en-US" dirty="0" err="1"/>
              <a:t>znaci</a:t>
            </a:r>
            <a:r>
              <a:rPr lang="en-US" dirty="0"/>
              <a:t> da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biti</a:t>
            </a:r>
            <a:r>
              <a:rPr lang="en-US" dirty="0"/>
              <a:t> </a:t>
            </a:r>
            <a:r>
              <a:rPr lang="en-US" dirty="0" err="1"/>
              <a:t>ponovno</a:t>
            </a:r>
            <a:r>
              <a:rPr lang="en-US" dirty="0"/>
              <a:t> </a:t>
            </a:r>
            <a:r>
              <a:rPr lang="en-US" dirty="0" err="1"/>
              <a:t>isporucena</a:t>
            </a:r>
            <a:endParaRPr lang="hr-HR" dirty="0"/>
          </a:p>
          <a:p>
            <a:endParaRPr lang="hr-HR" dirty="0"/>
          </a:p>
          <a:p>
            <a:r>
              <a:rPr lang="en-US" dirty="0"/>
              <a:t>Uz to, </a:t>
            </a:r>
            <a:r>
              <a:rPr lang="hr-HR" dirty="0"/>
              <a:t>prilikom ponovnom spajanja </a:t>
            </a:r>
            <a:r>
              <a:rPr lang="en-US" dirty="0" err="1"/>
              <a:t>servis</a:t>
            </a:r>
            <a:r>
              <a:rPr lang="en-US" dirty="0"/>
              <a:t> </a:t>
            </a:r>
            <a:r>
              <a:rPr lang="hr-HR" dirty="0" err="1"/>
              <a:t>obnovlja</a:t>
            </a:r>
            <a:r>
              <a:rPr lang="hr-HR" dirty="0"/>
              <a:t> pretplate u metodi </a:t>
            </a:r>
            <a:r>
              <a:rPr lang="hr-HR" dirty="0" err="1"/>
              <a:t>connectComplete</a:t>
            </a:r>
            <a:endParaRPr lang="hr-HR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Na </a:t>
            </a:r>
            <a:r>
              <a:rPr lang="en-US" dirty="0" err="1"/>
              <a:t>vrhu</a:t>
            </a:r>
            <a:r>
              <a:rPr lang="en-US" dirty="0"/>
              <a:t> je </a:t>
            </a:r>
            <a:r>
              <a:rPr lang="en-US" dirty="0" err="1"/>
              <a:t>aplikacijska</a:t>
            </a:r>
            <a:r>
              <a:rPr lang="en-US" dirty="0"/>
              <a:t> </a:t>
            </a:r>
            <a:r>
              <a:rPr lang="en-US" dirty="0" err="1"/>
              <a:t>logika</a:t>
            </a:r>
            <a:r>
              <a:rPr lang="en-US" dirty="0"/>
              <a:t>:</a:t>
            </a:r>
          </a:p>
          <a:p>
            <a:pPr marL="171450" indent="-171450">
              <a:buFontTx/>
              <a:buChar char="-"/>
            </a:pPr>
            <a:r>
              <a:rPr lang="en-US" dirty="0"/>
              <a:t>QoS 1 </a:t>
            </a:r>
            <a:r>
              <a:rPr lang="en-US" dirty="0" err="1"/>
              <a:t>jamci</a:t>
            </a:r>
            <a:r>
              <a:rPr lang="en-US" dirty="0"/>
              <a:t> </a:t>
            </a:r>
            <a:r>
              <a:rPr lang="en-US" dirty="0" err="1"/>
              <a:t>dostavu</a:t>
            </a:r>
            <a:r>
              <a:rPr lang="en-US" dirty="0"/>
              <a:t> </a:t>
            </a:r>
            <a:r>
              <a:rPr lang="en-US" dirty="0" err="1"/>
              <a:t>poruke</a:t>
            </a:r>
            <a:r>
              <a:rPr lang="en-US" dirty="0"/>
              <a:t> </a:t>
            </a:r>
            <a:r>
              <a:rPr lang="en-US" dirty="0" err="1"/>
              <a:t>barem</a:t>
            </a:r>
            <a:r>
              <a:rPr lang="en-US" dirty="0"/>
              <a:t> </a:t>
            </a:r>
            <a:r>
              <a:rPr lang="en-US" dirty="0" err="1"/>
              <a:t>jednom</a:t>
            </a:r>
            <a:r>
              <a:rPr lang="en-US" dirty="0"/>
              <a:t>,</a:t>
            </a:r>
          </a:p>
          <a:p>
            <a:pPr marL="171450" indent="-171450">
              <a:buFontTx/>
              <a:buChar char="-"/>
            </a:pPr>
            <a:r>
              <a:rPr lang="en-US" dirty="0"/>
              <a:t>A </a:t>
            </a:r>
            <a:r>
              <a:rPr lang="en-US" dirty="0" err="1"/>
              <a:t>kako</a:t>
            </a:r>
            <a:r>
              <a:rPr lang="en-US" dirty="0"/>
              <a:t> to </a:t>
            </a:r>
            <a:r>
              <a:rPr lang="en-US" dirty="0" err="1"/>
              <a:t>donosi</a:t>
            </a:r>
            <a:r>
              <a:rPr lang="en-US" dirty="0"/>
              <a:t> </a:t>
            </a:r>
            <a:r>
              <a:rPr lang="en-US" dirty="0" err="1"/>
              <a:t>duplikate</a:t>
            </a:r>
            <a:r>
              <a:rPr lang="en-US" dirty="0"/>
              <a:t>, </a:t>
            </a:r>
            <a:r>
              <a:rPr lang="en-US" dirty="0" err="1"/>
              <a:t>jedinstveni</a:t>
            </a:r>
            <a:r>
              <a:rPr lang="en-US" dirty="0"/>
              <a:t> </a:t>
            </a:r>
            <a:r>
              <a:rPr lang="en-US" dirty="0" err="1"/>
              <a:t>msg_id</a:t>
            </a:r>
            <a:r>
              <a:rPr lang="en-US" dirty="0"/>
              <a:t> </a:t>
            </a:r>
            <a:r>
              <a:rPr lang="en-US" dirty="0" err="1"/>
              <a:t>uz</a:t>
            </a:r>
            <a:r>
              <a:rPr lang="en-US" dirty="0"/>
              <a:t> </a:t>
            </a:r>
            <a:r>
              <a:rPr lang="en-US" dirty="0" err="1"/>
              <a:t>provjeru</a:t>
            </a:r>
            <a:r>
              <a:rPr lang="en-US" dirty="0"/>
              <a:t> u </a:t>
            </a:r>
            <a:r>
              <a:rPr lang="en-US" dirty="0" err="1"/>
              <a:t>Redisu</a:t>
            </a:r>
            <a:r>
              <a:rPr lang="en-US" dirty="0"/>
              <a:t> </a:t>
            </a:r>
            <a:r>
              <a:rPr lang="en-US" dirty="0" err="1"/>
              <a:t>osigurava</a:t>
            </a:r>
            <a:r>
              <a:rPr lang="en-US" dirty="0"/>
              <a:t> da </a:t>
            </a:r>
            <a:r>
              <a:rPr lang="en-US" dirty="0" err="1"/>
              <a:t>svako</a:t>
            </a:r>
            <a:r>
              <a:rPr lang="en-US" dirty="0"/>
              <a:t> </a:t>
            </a:r>
            <a:r>
              <a:rPr lang="en-US" dirty="0" err="1"/>
              <a:t>ocitanje</a:t>
            </a:r>
            <a:r>
              <a:rPr lang="en-US" dirty="0"/>
              <a:t> </a:t>
            </a:r>
            <a:r>
              <a:rPr lang="en-US" dirty="0" err="1"/>
              <a:t>bude</a:t>
            </a:r>
            <a:r>
              <a:rPr lang="en-US" dirty="0"/>
              <a:t> </a:t>
            </a:r>
            <a:r>
              <a:rPr lang="en-US" dirty="0" err="1"/>
              <a:t>obradeno</a:t>
            </a:r>
            <a:r>
              <a:rPr lang="en-US" dirty="0"/>
              <a:t> </a:t>
            </a:r>
            <a:r>
              <a:rPr lang="en-US" dirty="0" err="1"/>
              <a:t>tocno</a:t>
            </a:r>
            <a:r>
              <a:rPr lang="en-US" dirty="0"/>
              <a:t> </a:t>
            </a:r>
            <a:r>
              <a:rPr lang="en-US" dirty="0" err="1"/>
              <a:t>jednom</a:t>
            </a:r>
            <a:endParaRPr lang="hr-HR" dirty="0"/>
          </a:p>
          <a:p>
            <a:endParaRPr lang="hr-HR" dirty="0"/>
          </a:p>
          <a:p>
            <a:endParaRPr lang="en-US" dirty="0"/>
          </a:p>
          <a:p>
            <a:r>
              <a:rPr lang="en-US" dirty="0"/>
              <a:t>Kada se </a:t>
            </a:r>
            <a:r>
              <a:rPr lang="en-US" dirty="0" err="1"/>
              <a:t>sva</a:t>
            </a:r>
            <a:r>
              <a:rPr lang="en-US" dirty="0"/>
              <a:t> </a:t>
            </a:r>
            <a:r>
              <a:rPr lang="en-US" dirty="0" err="1"/>
              <a:t>cetiri</a:t>
            </a:r>
            <a:r>
              <a:rPr lang="en-US" dirty="0"/>
              <a:t> </a:t>
            </a:r>
            <a:r>
              <a:rPr lang="en-US" dirty="0" err="1"/>
              <a:t>sloja</a:t>
            </a:r>
            <a:r>
              <a:rPr lang="en-US" dirty="0"/>
              <a:t> </a:t>
            </a:r>
            <a:r>
              <a:rPr lang="en-US" dirty="0" err="1"/>
              <a:t>pouzdanosti</a:t>
            </a:r>
            <a:r>
              <a:rPr lang="en-US" dirty="0"/>
              <a:t> </a:t>
            </a:r>
            <a:r>
              <a:rPr lang="en-US" dirty="0" err="1"/>
              <a:t>sloze</a:t>
            </a:r>
            <a:r>
              <a:rPr lang="en-US" dirty="0"/>
              <a:t>, </a:t>
            </a:r>
            <a:r>
              <a:rPr lang="en-US" dirty="0" err="1"/>
              <a:t>rezultat</a:t>
            </a:r>
            <a:r>
              <a:rPr lang="en-US" dirty="0"/>
              <a:t> je </a:t>
            </a:r>
            <a:r>
              <a:rPr lang="en-US" dirty="0" err="1"/>
              <a:t>nulti</a:t>
            </a:r>
            <a:r>
              <a:rPr lang="en-US" dirty="0"/>
              <a:t> </a:t>
            </a:r>
            <a:r>
              <a:rPr lang="en-US" dirty="0" err="1"/>
              <a:t>gubitak</a:t>
            </a:r>
            <a:r>
              <a:rPr lang="en-US" dirty="0"/>
              <a:t> </a:t>
            </a:r>
            <a:r>
              <a:rPr lang="en-US" dirty="0" err="1"/>
              <a:t>poruka</a:t>
            </a:r>
            <a:r>
              <a:rPr lang="en-US" dirty="0"/>
              <a:t> I </a:t>
            </a:r>
            <a:r>
              <a:rPr lang="en-US" dirty="0" err="1"/>
              <a:t>idempotentna</a:t>
            </a:r>
            <a:r>
              <a:rPr lang="en-US" dirty="0"/>
              <a:t> </a:t>
            </a:r>
            <a:r>
              <a:rPr lang="en-US" dirty="0" err="1"/>
              <a:t>obrada</a:t>
            </a:r>
            <a:r>
              <a:rPr lang="en-US" dirty="0"/>
              <a:t> u </a:t>
            </a:r>
            <a:r>
              <a:rPr lang="en-US" dirty="0" err="1"/>
              <a:t>svim</a:t>
            </a:r>
            <a:r>
              <a:rPr lang="en-US" dirty="0"/>
              <a:t> </a:t>
            </a:r>
            <a:r>
              <a:rPr lang="en-US" dirty="0" err="1"/>
              <a:t>testiranim</a:t>
            </a:r>
            <a:r>
              <a:rPr lang="en-US" dirty="0"/>
              <a:t> </a:t>
            </a:r>
            <a:r>
              <a:rPr lang="en-US" dirty="0" err="1"/>
              <a:t>scenarijima</a:t>
            </a:r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568B23-BB8D-422C-86A5-F436D5A61452}" type="slidenum">
              <a:rPr lang="hr-HR" smtClean="0"/>
              <a:t>10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481723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A61CA-457A-B9C6-F04F-68BE2458D2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65DF90-F754-CC86-DADA-49A8039F49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27E4DB-72E4-8E09-982B-A87A43B7F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15.7.2026.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F158CA-FA28-ED10-870D-31D5DD0BC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E7F5D4-F52D-04BC-3D27-031B2ACF3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6356861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F7904-A6B0-956B-148F-077CF325F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9D782B-88BD-AA5F-B3B0-5B0FF82E2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35164D-C6EE-3680-433C-5EA6FD4D1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15.7.2026.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1D58A-EDAD-874A-BBC3-0E5CCD7A2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F73F77-6C36-D090-F6C5-D4821EA9D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900208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3B500-97DC-61B8-9FAC-893EB8FFD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3DC545-1A96-6B01-CC2A-6A642A314C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7905E-1934-6F2E-07ED-588D7BADE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15.7.2026.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761CCD-4FA1-C0BA-7BB4-90CFB80EA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063F1-C7CF-E969-627D-A9F473487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9995982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AD348-F60C-CEE3-5923-0CD34A0EB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5BC4D-CA4A-3AC4-46A4-3ABBD0CD9F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C70865-DC8D-44A4-5E9D-D9CD623E7E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7BE8BA-F24C-A046-2EF5-D2109D2F54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15.7.2026.</a:t>
            </a:fld>
            <a:endParaRPr lang="hr-H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087010-D13A-0084-EE6B-EF12CEF73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CB4B4D-7749-6D92-916B-8067434AB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490212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B90BC-D8E7-0E3B-78C9-CCC2B4C98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A01A5A-533A-6705-76C4-95B91D5C6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21E23C-C3C4-768D-4DDA-0F195EC753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010B17-AD40-C6DD-4171-AE26C0D7F6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D47D41-9D83-5C67-FC26-C816A601C0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ABC77C-1675-CF27-38D5-D05AAE1E5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15.7.2026.</a:t>
            </a:fld>
            <a:endParaRPr lang="hr-H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3F23F8-D5A0-7137-9D95-885F2A5A6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37CA02-3915-2337-BCA1-27CE5A80A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330668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6A775-CF10-860E-E946-704325759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7E11E-2127-D6CF-9A63-EAA69DD9F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15.7.2026.</a:t>
            </a:fld>
            <a:endParaRPr lang="hr-H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F6296A-A605-E372-5FC1-054FD4C4B5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0A6F53-2385-F46C-EC84-1A37ED1C2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751801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046896-62A0-F899-444F-548D40673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15.7.2026.</a:t>
            </a:fld>
            <a:endParaRPr lang="hr-H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700B70-C264-AAC4-7847-25845CB61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350B3-9BBA-A2FC-E0D1-C04B4AB64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833403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E5C77-EB04-0406-E9D3-8618D6AA6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4D62D6-92DF-56B5-7EC9-AA0EDAA32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EBDBA-A474-8F3E-9C26-DEA01B75D9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F3CB7B-65F5-5D4D-B67B-D239404C3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15.7.2026.</a:t>
            </a:fld>
            <a:endParaRPr lang="hr-H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D941E0-94F9-E2A3-1D7D-1AADC505E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9439C2-4F07-82E3-C06A-C5416BCCC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023662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70DAA-CB3E-760D-FC83-B712ACC49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4E717E-4EC4-671A-2940-DEFE350A03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r-H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1DA645-0F95-D5BA-B0F7-664B6151E5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EBE70F-E4A4-C79D-D3DE-357257F02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15.7.2026.</a:t>
            </a:fld>
            <a:endParaRPr lang="hr-H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3A719E-0719-8AD6-0810-0BD595273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62A015-3C2B-8CF3-2403-CC516D0BA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643543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4CAB4-007E-6ED5-E714-0091FBEEA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8DD745-AA50-30C2-55EE-FFD62B3067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108CF0-F116-47F0-1665-CCC0275F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15.7.2026.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AFB2A2-DB7B-C310-56AD-C50016D78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B6DD13-18C3-11B9-0BF0-F14758A4F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099901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B47365-5BE8-AD3A-D556-7369F44041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86D0EC-406B-D3C7-FB83-EC4A6E8A1F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1937C-9DFC-DFEF-7BDC-37D4CF62E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CE93B-3C43-4AC7-9488-B2E578062D1E}" type="datetimeFigureOut">
              <a:rPr lang="hr-HR" smtClean="0"/>
              <a:t>15.7.2026.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2CA3D0-8492-E09C-F53F-E0A4B6460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AD933-C57B-A9BC-F43F-9F93F556E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9227924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D972E8-7A32-3F0C-998D-13693EA14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r-H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DE41D4-9112-C921-9B1E-0BEBE86CA6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629F34-C86F-5DF5-6D99-45C98A44EA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4CE93B-3C43-4AC7-9488-B2E578062D1E}" type="datetimeFigureOut">
              <a:rPr lang="hr-HR" smtClean="0"/>
              <a:t>15.7.2026.</a:t>
            </a:fld>
            <a:endParaRPr lang="hr-H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0A8328-FB23-EBA6-4C51-EDBC1736C6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125521-C0AC-BD66-39B1-A269CB29E7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763BF1-F3C5-4DE8-9226-13D1D11E687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7254531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868680"/>
            <a:ext cx="103327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808080"/>
                </a:solidFill>
                <a:latin typeface="Arial"/>
              </a:rPr>
              <a:t>Sveučilište u Zagrebu  ·  Fakultet elektrotehnike i računarstva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33272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 dirty="0" err="1">
                <a:solidFill>
                  <a:srgbClr val="12263A"/>
                </a:solidFill>
                <a:latin typeface="Arial"/>
              </a:rPr>
              <a:t>Pouzdana</a:t>
            </a:r>
            <a:r>
              <a:rPr sz="3400" b="1" i="0" dirty="0">
                <a:solidFill>
                  <a:srgbClr val="12263A"/>
                </a:solidFill>
                <a:latin typeface="Arial"/>
              </a:rPr>
              <a:t> </a:t>
            </a:r>
            <a:r>
              <a:rPr sz="3400" b="1" i="0" dirty="0" err="1">
                <a:solidFill>
                  <a:srgbClr val="12263A"/>
                </a:solidFill>
                <a:latin typeface="Arial"/>
              </a:rPr>
              <a:t>obrada</a:t>
            </a:r>
            <a:r>
              <a:rPr sz="3400" b="1" i="0" dirty="0">
                <a:solidFill>
                  <a:srgbClr val="12263A"/>
                </a:solidFill>
                <a:latin typeface="Arial"/>
              </a:rPr>
              <a:t> IoT </a:t>
            </a:r>
            <a:r>
              <a:rPr sz="3400" b="1" i="0" dirty="0" err="1">
                <a:solidFill>
                  <a:srgbClr val="12263A"/>
                </a:solidFill>
                <a:latin typeface="Arial"/>
              </a:rPr>
              <a:t>telemetrije</a:t>
            </a:r>
            <a:r>
              <a:rPr sz="3400" b="1" i="0" dirty="0">
                <a:solidFill>
                  <a:srgbClr val="12263A"/>
                </a:solidFill>
                <a:latin typeface="Arial"/>
              </a:rPr>
              <a:t> u mikroservisnoj </a:t>
            </a:r>
            <a:r>
              <a:rPr sz="3400" b="1" i="0" dirty="0" err="1">
                <a:solidFill>
                  <a:srgbClr val="12263A"/>
                </a:solidFill>
                <a:latin typeface="Arial"/>
              </a:rPr>
              <a:t>arhitekturi</a:t>
            </a:r>
            <a:r>
              <a:rPr sz="3400" b="1" i="0" dirty="0">
                <a:solidFill>
                  <a:srgbClr val="12263A"/>
                </a:solidFill>
                <a:latin typeface="Arial"/>
              </a:rPr>
              <a:t> </a:t>
            </a:r>
            <a:r>
              <a:rPr sz="3400" b="1" i="0" dirty="0" err="1">
                <a:solidFill>
                  <a:srgbClr val="12263A"/>
                </a:solidFill>
                <a:latin typeface="Arial"/>
              </a:rPr>
              <a:t>vođenoj</a:t>
            </a:r>
            <a:r>
              <a:rPr sz="3400" b="1" i="0" dirty="0">
                <a:solidFill>
                  <a:srgbClr val="12263A"/>
                </a:solidFill>
                <a:latin typeface="Arial"/>
              </a:rPr>
              <a:t> </a:t>
            </a:r>
            <a:r>
              <a:rPr sz="3400" b="1" i="0" dirty="0" err="1">
                <a:solidFill>
                  <a:srgbClr val="12263A"/>
                </a:solidFill>
                <a:latin typeface="Arial"/>
              </a:rPr>
              <a:t>događajima</a:t>
            </a:r>
            <a:r>
              <a:rPr sz="3400" b="1" i="0" dirty="0">
                <a:solidFill>
                  <a:srgbClr val="12263A"/>
                </a:solidFill>
                <a:latin typeface="Arial"/>
              </a:rPr>
              <a:t> </a:t>
            </a:r>
            <a:r>
              <a:rPr sz="3400" b="1" i="0" dirty="0" err="1">
                <a:solidFill>
                  <a:srgbClr val="12263A"/>
                </a:solidFill>
                <a:latin typeface="Arial"/>
              </a:rPr>
              <a:t>primjenom</a:t>
            </a:r>
            <a:r>
              <a:rPr sz="3400" b="1" i="0" dirty="0">
                <a:solidFill>
                  <a:srgbClr val="12263A"/>
                </a:solidFill>
                <a:latin typeface="Arial"/>
              </a:rPr>
              <a:t> </a:t>
            </a:r>
            <a:r>
              <a:rPr sz="3400" b="1" i="0" dirty="0" err="1">
                <a:solidFill>
                  <a:srgbClr val="12263A"/>
                </a:solidFill>
                <a:latin typeface="Arial"/>
              </a:rPr>
              <a:t>protokola</a:t>
            </a:r>
            <a:r>
              <a:rPr sz="3400" b="1" i="0" dirty="0">
                <a:solidFill>
                  <a:srgbClr val="12263A"/>
                </a:solidFill>
                <a:latin typeface="Arial"/>
              </a:rPr>
              <a:t> MQTT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4160520"/>
            <a:ext cx="2377440" cy="64008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327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 i="0" dirty="0" err="1">
                <a:solidFill>
                  <a:srgbClr val="2E86AB"/>
                </a:solidFill>
                <a:latin typeface="Arial"/>
              </a:rPr>
              <a:t>Diplomski</a:t>
            </a:r>
            <a:r>
              <a:rPr sz="2000" b="1" i="0" dirty="0">
                <a:solidFill>
                  <a:srgbClr val="2E86AB"/>
                </a:solidFill>
                <a:latin typeface="Arial"/>
              </a:rPr>
              <a:t> rad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 dirty="0">
                <a:solidFill>
                  <a:srgbClr val="202020"/>
                </a:solidFill>
                <a:latin typeface="Arial"/>
              </a:rPr>
              <a:t>Student: Luka Iveković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 dirty="0">
                <a:solidFill>
                  <a:srgbClr val="202020"/>
                </a:solidFill>
                <a:latin typeface="Arial"/>
              </a:rPr>
              <a:t>Mentor: doc. dr. sc. Slaven Zakošek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808080"/>
                </a:solidFill>
                <a:latin typeface="Arial"/>
              </a:rPr>
              <a:t>Zagreb, srpanj 2026.</a:t>
            </a:r>
          </a:p>
        </p:txBody>
      </p:sp>
    </p:spTree>
    <p:extLst>
      <p:ext uri="{BB962C8B-B14F-4D97-AF65-F5344CB8AC3E}">
        <p14:creationId xmlns:p14="http://schemas.microsoft.com/office/powerpoint/2010/main" val="41849768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Sadržaj prezentacije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9601200" cy="40434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1.   Uvod, MQTT i usporedba pristupa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2.   Cilj rada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3.   Arhitektura sustava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4.   Mehanizmi pouzdanosti i deduplikacija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5.   Implementacija: ESP32, mikroservisi, infrastruktura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6.   Testiranje i rezultati (T1 do T6)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7.   Analiza i zaključak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2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0803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Uvod i motivacija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424160" cy="466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3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Broj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IoT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uređaja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naglo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raste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: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preko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18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milijardi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(2024.), ~30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milijardi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do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kraja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desetljeća</a:t>
            </a:r>
            <a:endParaRPr sz="23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3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Senzori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kontinuirano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šalju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telemetriju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poslužiteljskoj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strani</a:t>
            </a:r>
            <a:endParaRPr sz="23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3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Klasični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HTTP model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pokazuje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ograničenja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:</a:t>
            </a:r>
          </a:p>
          <a:p>
            <a:pPr marL="384048" indent="0"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0" i="0" dirty="0">
                <a:solidFill>
                  <a:srgbClr val="202020"/>
                </a:solidFill>
                <a:latin typeface="Arial"/>
              </a:rPr>
              <a:t>–  TCP </a:t>
            </a:r>
            <a:r>
              <a:rPr sz="2000" b="0" i="0" dirty="0" err="1">
                <a:solidFill>
                  <a:srgbClr val="202020"/>
                </a:solidFill>
                <a:latin typeface="Arial"/>
              </a:rPr>
              <a:t>sesija</a:t>
            </a:r>
            <a:r>
              <a:rPr sz="2000" b="0" i="0" dirty="0">
                <a:solidFill>
                  <a:srgbClr val="202020"/>
                </a:solidFill>
                <a:latin typeface="Arial"/>
              </a:rPr>
              <a:t> po </a:t>
            </a:r>
            <a:r>
              <a:rPr sz="2000" b="0" i="0" dirty="0" err="1">
                <a:solidFill>
                  <a:srgbClr val="202020"/>
                </a:solidFill>
                <a:latin typeface="Arial"/>
              </a:rPr>
              <a:t>svakom</a:t>
            </a:r>
            <a:r>
              <a:rPr sz="2000" b="0" i="0" dirty="0">
                <a:solidFill>
                  <a:srgbClr val="20202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202020"/>
                </a:solidFill>
                <a:latin typeface="Arial"/>
              </a:rPr>
              <a:t>mjerenju</a:t>
            </a:r>
            <a:r>
              <a:rPr sz="2000" b="0" i="0" dirty="0">
                <a:solidFill>
                  <a:srgbClr val="202020"/>
                </a:solidFill>
                <a:latin typeface="Arial"/>
              </a:rPr>
              <a:t> (</a:t>
            </a:r>
            <a:r>
              <a:rPr sz="2000" b="0" i="0" dirty="0" err="1">
                <a:solidFill>
                  <a:srgbClr val="202020"/>
                </a:solidFill>
                <a:latin typeface="Arial"/>
              </a:rPr>
              <a:t>suvišan</a:t>
            </a:r>
            <a:r>
              <a:rPr sz="2000" b="0" i="0" dirty="0">
                <a:solidFill>
                  <a:srgbClr val="20202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202020"/>
                </a:solidFill>
                <a:latin typeface="Arial"/>
              </a:rPr>
              <a:t>režijski</a:t>
            </a:r>
            <a:r>
              <a:rPr sz="2000" b="0" i="0" dirty="0">
                <a:solidFill>
                  <a:srgbClr val="20202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202020"/>
                </a:solidFill>
                <a:latin typeface="Arial"/>
              </a:rPr>
              <a:t>trošak</a:t>
            </a:r>
            <a:r>
              <a:rPr sz="2000" b="0" i="0" dirty="0">
                <a:solidFill>
                  <a:srgbClr val="202020"/>
                </a:solidFill>
                <a:latin typeface="Arial"/>
              </a:rPr>
              <a:t>)</a:t>
            </a:r>
          </a:p>
          <a:p>
            <a:pPr marL="384048" indent="0"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0" i="0" dirty="0">
                <a:solidFill>
                  <a:srgbClr val="202020"/>
                </a:solidFill>
                <a:latin typeface="Arial"/>
              </a:rPr>
              <a:t>–  </a:t>
            </a:r>
            <a:r>
              <a:rPr sz="2000" b="0" i="0" dirty="0" err="1">
                <a:solidFill>
                  <a:srgbClr val="202020"/>
                </a:solidFill>
                <a:latin typeface="Arial"/>
              </a:rPr>
              <a:t>sinkroni</a:t>
            </a:r>
            <a:r>
              <a:rPr sz="2000" b="0" i="0" dirty="0">
                <a:solidFill>
                  <a:srgbClr val="20202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202020"/>
                </a:solidFill>
                <a:latin typeface="Arial"/>
              </a:rPr>
              <a:t>zahtjevi</a:t>
            </a:r>
            <a:r>
              <a:rPr sz="2000" b="0" i="0" dirty="0">
                <a:solidFill>
                  <a:srgbClr val="20202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202020"/>
                </a:solidFill>
                <a:latin typeface="Arial"/>
              </a:rPr>
              <a:t>loše</a:t>
            </a:r>
            <a:r>
              <a:rPr sz="2000" b="0" i="0" dirty="0">
                <a:solidFill>
                  <a:srgbClr val="20202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202020"/>
                </a:solidFill>
                <a:latin typeface="Arial"/>
              </a:rPr>
              <a:t>podnose</a:t>
            </a:r>
            <a:r>
              <a:rPr sz="2000" b="0" i="0" dirty="0">
                <a:solidFill>
                  <a:srgbClr val="20202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202020"/>
                </a:solidFill>
                <a:latin typeface="Arial"/>
              </a:rPr>
              <a:t>prekide</a:t>
            </a:r>
            <a:r>
              <a:rPr sz="2000" b="0" i="0" dirty="0">
                <a:solidFill>
                  <a:srgbClr val="20202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202020"/>
                </a:solidFill>
                <a:latin typeface="Arial"/>
              </a:rPr>
              <a:t>mreže</a:t>
            </a:r>
            <a:endParaRPr sz="2000" b="0" i="0" dirty="0">
              <a:solidFill>
                <a:srgbClr val="202020"/>
              </a:solidFill>
              <a:latin typeface="Arial"/>
            </a:endParaRPr>
          </a:p>
          <a:p>
            <a:pPr marL="384048" indent="0"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2000" b="0" i="0" dirty="0">
                <a:solidFill>
                  <a:srgbClr val="202020"/>
                </a:solidFill>
                <a:latin typeface="Arial"/>
              </a:rPr>
              <a:t>–  </a:t>
            </a:r>
            <a:r>
              <a:rPr sz="2000" b="0" i="0" dirty="0" err="1">
                <a:solidFill>
                  <a:srgbClr val="202020"/>
                </a:solidFill>
                <a:latin typeface="Arial"/>
              </a:rPr>
              <a:t>tijesna</a:t>
            </a:r>
            <a:r>
              <a:rPr sz="2000" b="0" i="0" dirty="0">
                <a:solidFill>
                  <a:srgbClr val="20202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202020"/>
                </a:solidFill>
                <a:latin typeface="Arial"/>
              </a:rPr>
              <a:t>sprega</a:t>
            </a:r>
            <a:r>
              <a:rPr sz="2000" b="0" i="0" dirty="0">
                <a:solidFill>
                  <a:srgbClr val="20202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202020"/>
                </a:solidFill>
                <a:latin typeface="Arial"/>
              </a:rPr>
              <a:t>proizvođača</a:t>
            </a:r>
            <a:r>
              <a:rPr sz="2000" b="0" i="0" dirty="0">
                <a:solidFill>
                  <a:srgbClr val="20202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202020"/>
                </a:solidFill>
                <a:latin typeface="Arial"/>
              </a:rPr>
              <a:t>i</a:t>
            </a:r>
            <a:r>
              <a:rPr sz="2000" b="0" i="0" dirty="0">
                <a:solidFill>
                  <a:srgbClr val="20202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202020"/>
                </a:solidFill>
                <a:latin typeface="Arial"/>
              </a:rPr>
              <a:t>potrošača</a:t>
            </a:r>
            <a:r>
              <a:rPr sz="2000" b="0" i="0" dirty="0">
                <a:solidFill>
                  <a:srgbClr val="20202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202020"/>
                </a:solidFill>
                <a:latin typeface="Arial"/>
              </a:rPr>
              <a:t>otežava</a:t>
            </a:r>
            <a:r>
              <a:rPr sz="2000" b="0" i="0" dirty="0">
                <a:solidFill>
                  <a:srgbClr val="20202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202020"/>
                </a:solidFill>
                <a:latin typeface="Arial"/>
              </a:rPr>
              <a:t>skaliranje</a:t>
            </a:r>
            <a:endParaRPr lang="hr-HR" sz="2000" b="0" i="0" dirty="0">
              <a:solidFill>
                <a:srgbClr val="202020"/>
              </a:solidFill>
              <a:latin typeface="Arial"/>
            </a:endParaRPr>
          </a:p>
          <a:p>
            <a:pPr marL="384048" indent="0"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endParaRPr sz="2000" b="0" i="0" dirty="0">
              <a:solidFill>
                <a:srgbClr val="20202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3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Rješenje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: MQTT +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arhitektura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vođena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događajima</a:t>
            </a:r>
            <a:endParaRPr sz="23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3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Ključni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izazov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: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pouzdana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dostava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bez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gubitka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i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bez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dvostruke</a:t>
            </a:r>
            <a:r>
              <a:rPr sz="23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300" b="0" i="0" dirty="0" err="1">
                <a:solidFill>
                  <a:srgbClr val="000000"/>
                </a:solidFill>
                <a:latin typeface="Arial"/>
              </a:rPr>
              <a:t>obrade</a:t>
            </a:r>
            <a:endParaRPr sz="2300" b="0" i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 dirty="0">
                <a:solidFill>
                  <a:srgbClr val="808080"/>
                </a:solidFill>
                <a:latin typeface="Arial"/>
                <a:cs typeface="Arial"/>
              </a:rPr>
              <a:t>3 / 27</a:t>
            </a:r>
            <a:endParaRPr sz="1200" i="0" dirty="0">
              <a:solidFill>
                <a:srgbClr val="80808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575098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MQTT i razine kvalitete usluge (QoS)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035040" cy="4937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0" i="0" dirty="0">
                <a:solidFill>
                  <a:srgbClr val="000000"/>
                </a:solidFill>
                <a:latin typeface="Arial"/>
              </a:rPr>
              <a:t>●  Lagani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protokol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objavi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-pretplati (ISO/IEC 20922)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Posrednik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(broker)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razdvaja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proizvođače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i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potrošače</a:t>
            </a:r>
            <a:endParaRPr sz="21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Hijerarhijske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teme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,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npr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. telemetry/esp32-001/temperature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0" i="0" dirty="0">
                <a:solidFill>
                  <a:srgbClr val="000000"/>
                </a:solidFill>
                <a:latin typeface="Arial"/>
              </a:rPr>
              <a:t>●  QoS 0: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najviše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jednom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(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moguć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gubitak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0" i="0" dirty="0">
                <a:solidFill>
                  <a:srgbClr val="000000"/>
                </a:solidFill>
                <a:latin typeface="Arial"/>
              </a:rPr>
              <a:t>●  QoS 1: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barem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jednom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(bez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gubitka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,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mogući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duplikati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0" i="0" dirty="0">
                <a:solidFill>
                  <a:srgbClr val="000000"/>
                </a:solidFill>
                <a:latin typeface="Arial"/>
              </a:rPr>
              <a:t>●  QoS 2: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točno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jednom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(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najveći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režijski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trošak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1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Odabir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: QoS 1 +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deduplikacija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na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aplikacijskom</a:t>
            </a:r>
            <a:r>
              <a:rPr sz="21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100" b="0" i="0" dirty="0" err="1">
                <a:solidFill>
                  <a:srgbClr val="000000"/>
                </a:solidFill>
                <a:latin typeface="Arial"/>
              </a:rPr>
              <a:t>sloju</a:t>
            </a:r>
            <a:endParaRPr sz="2100" b="0" i="0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" name="Picture 4" descr="raw_p1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009547"/>
            <a:ext cx="4846320" cy="3113225"/>
          </a:xfrm>
          <a:prstGeom prst="rect">
            <a:avLst/>
          </a:prstGeom>
          <a:ln w="9525">
            <a:solidFill>
              <a:srgbClr val="CFD8D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040880" y="562356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1">
                <a:solidFill>
                  <a:srgbClr val="808080"/>
                </a:solidFill>
                <a:latin typeface="Arial"/>
              </a:rPr>
              <a:t>QoS 1: PUBLISH / PUBACK i retransmisija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4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763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Cilj rada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42416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Prototip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sustava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za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pouzdanu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obradu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IoT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telemetrije</a:t>
            </a:r>
            <a:endParaRPr sz="24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Slojevita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strategija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pouzdanosti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: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uređaj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→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posrednik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→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servis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→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baza</a:t>
            </a:r>
            <a:endParaRPr sz="24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Idempotentna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obrada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: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nijedna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poruka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izgubljena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niti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obrađena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dvaput</a:t>
            </a:r>
            <a:endParaRPr sz="24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Predvidljiva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latencija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pod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realnim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opterećenjem</a:t>
            </a:r>
            <a:endParaRPr sz="24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600"/>
              </a:spcAft>
            </a:pPr>
            <a:r>
              <a:rPr sz="24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Eksperimentalna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potvrda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kroz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šest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000000"/>
                </a:solidFill>
                <a:latin typeface="Arial"/>
              </a:rPr>
              <a:t>scenarija</a:t>
            </a:r>
            <a:r>
              <a:rPr sz="2400" b="0" i="0" dirty="0">
                <a:solidFill>
                  <a:srgbClr val="000000"/>
                </a:solidFill>
                <a:latin typeface="Arial"/>
              </a:rPr>
              <a:t> (T1 do T6)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6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12759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Arhitektura sustava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raw_p17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839" y="1225296"/>
            <a:ext cx="6273230" cy="4987379"/>
          </a:xfrm>
          <a:prstGeom prst="rect">
            <a:avLst/>
          </a:prstGeom>
          <a:ln w="9525">
            <a:solidFill>
              <a:srgbClr val="CFD8D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926839" y="6451037"/>
            <a:ext cx="5760720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1" dirty="0" err="1">
                <a:solidFill>
                  <a:srgbClr val="808080"/>
                </a:solidFill>
                <a:latin typeface="Arial"/>
              </a:rPr>
              <a:t>Arhitektura</a:t>
            </a:r>
            <a:r>
              <a:rPr sz="1300" b="0" i="1" dirty="0">
                <a:solidFill>
                  <a:srgbClr val="808080"/>
                </a:solidFill>
                <a:latin typeface="Arial"/>
              </a:rPr>
              <a:t> </a:t>
            </a:r>
            <a:r>
              <a:rPr sz="1300" b="0" i="1" dirty="0" err="1">
                <a:solidFill>
                  <a:srgbClr val="808080"/>
                </a:solidFill>
                <a:latin typeface="Arial"/>
              </a:rPr>
              <a:t>sustava</a:t>
            </a:r>
            <a:r>
              <a:rPr sz="1300" b="0" i="1" dirty="0">
                <a:solidFill>
                  <a:srgbClr val="808080"/>
                </a:solidFill>
                <a:latin typeface="Arial"/>
              </a:rPr>
              <a:t> </a:t>
            </a:r>
            <a:r>
              <a:rPr sz="1300" b="0" i="1" dirty="0" err="1">
                <a:solidFill>
                  <a:srgbClr val="808080"/>
                </a:solidFill>
                <a:latin typeface="Arial"/>
              </a:rPr>
              <a:t>na</a:t>
            </a:r>
            <a:r>
              <a:rPr sz="1300" b="0" i="1" dirty="0">
                <a:solidFill>
                  <a:srgbClr val="808080"/>
                </a:solidFill>
                <a:latin typeface="Arial"/>
              </a:rPr>
              <a:t> </a:t>
            </a:r>
            <a:r>
              <a:rPr sz="1300" b="0" i="1" dirty="0" err="1">
                <a:solidFill>
                  <a:srgbClr val="808080"/>
                </a:solidFill>
                <a:latin typeface="Arial"/>
              </a:rPr>
              <a:t>visokoj</a:t>
            </a:r>
            <a:r>
              <a:rPr sz="1300" b="0" i="1" dirty="0">
                <a:solidFill>
                  <a:srgbClr val="808080"/>
                </a:solidFill>
                <a:latin typeface="Arial"/>
              </a:rPr>
              <a:t> </a:t>
            </a:r>
            <a:r>
              <a:rPr sz="1300" b="0" i="1" dirty="0" err="1">
                <a:solidFill>
                  <a:srgbClr val="808080"/>
                </a:solidFill>
                <a:latin typeface="Arial"/>
              </a:rPr>
              <a:t>razini</a:t>
            </a:r>
            <a:endParaRPr sz="1300" b="0" i="1" dirty="0">
              <a:solidFill>
                <a:srgbClr val="808080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7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33CF63-C37D-0D95-67B4-B8B028107518}"/>
              </a:ext>
            </a:extLst>
          </p:cNvPr>
          <p:cNvSpPr txBox="1"/>
          <p:nvPr/>
        </p:nvSpPr>
        <p:spPr>
          <a:xfrm>
            <a:off x="9304842" y="1437524"/>
            <a:ext cx="2124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Percepcijski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sloj</a:t>
            </a:r>
            <a:endParaRPr lang="hr-HR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E0D39B-4B90-A019-6DC9-1F3942145A17}"/>
              </a:ext>
            </a:extLst>
          </p:cNvPr>
          <p:cNvSpPr txBox="1"/>
          <p:nvPr/>
        </p:nvSpPr>
        <p:spPr>
          <a:xfrm>
            <a:off x="9560476" y="2776037"/>
            <a:ext cx="1612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Mre</a:t>
            </a:r>
            <a:r>
              <a:rPr lang="hr-HR" b="1" dirty="0" err="1">
                <a:latin typeface="Arial" panose="020B0604020202020204" pitchFamily="34" charset="0"/>
                <a:cs typeface="Arial" panose="020B0604020202020204" pitchFamily="34" charset="0"/>
              </a:rPr>
              <a:t>žni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sloj</a:t>
            </a:r>
            <a:endParaRPr lang="hr-HR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7E8E3A8-561D-823B-24DA-3FDA8CD68102}"/>
              </a:ext>
            </a:extLst>
          </p:cNvPr>
          <p:cNvSpPr txBox="1"/>
          <p:nvPr/>
        </p:nvSpPr>
        <p:spPr>
          <a:xfrm>
            <a:off x="9380272" y="4480727"/>
            <a:ext cx="19731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b="1" dirty="0">
                <a:latin typeface="Arial" panose="020B0604020202020204" pitchFamily="34" charset="0"/>
                <a:cs typeface="Arial" panose="020B0604020202020204" pitchFamily="34" charset="0"/>
              </a:rPr>
              <a:t>Aplikacijski sloj</a:t>
            </a:r>
          </a:p>
        </p:txBody>
      </p:sp>
    </p:spTree>
    <p:extLst>
      <p:ext uri="{BB962C8B-B14F-4D97-AF65-F5344CB8AC3E}">
        <p14:creationId xmlns:p14="http://schemas.microsoft.com/office/powerpoint/2010/main" val="2023369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pied Picture 3" descr="raw_p19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32" y="1257808"/>
            <a:ext cx="10829641" cy="5018959"/>
          </a:xfrm>
          <a:prstGeom prst="rect">
            <a:avLst/>
          </a:prstGeom>
          <a:ln w="9525">
            <a:solidFill>
              <a:srgbClr val="CFD8DC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A98CA12-5A56-4B8F-B71E-9107039F9EF9}"/>
              </a:ext>
            </a:extLst>
          </p:cNvPr>
          <p:cNvSpPr txBox="1"/>
          <p:nvPr/>
        </p:nvSpPr>
        <p:spPr>
          <a:xfrm>
            <a:off x="1231900" y="6451600"/>
            <a:ext cx="9728200" cy="304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pl-PL" sz="1400" i="1">
                <a:solidFill>
                  <a:srgbClr val="808080"/>
                </a:solidFill>
                <a:latin typeface="Arial"/>
                <a:cs typeface="Arial"/>
              </a:rPr>
              <a:t>Životni ciklus poruke od uređaja do pohrane</a:t>
            </a:r>
            <a:endParaRPr lang="hr-HR" sz="1400" i="1">
              <a:solidFill>
                <a:srgbClr val="808080"/>
              </a:solidFill>
              <a:latin typeface="Arial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D27749-1CAE-47CA-82CF-844FEB24AA24}"/>
              </a:ext>
            </a:extLst>
          </p:cNvPr>
          <p:cNvSpPr txBox="1"/>
          <p:nvPr/>
        </p:nvSpPr>
        <p:spPr>
          <a:xfrm>
            <a:off x="560832" y="342138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hr-HR" sz="3200" b="1" dirty="0">
                <a:solidFill>
                  <a:srgbClr val="12263A"/>
                </a:solidFill>
                <a:latin typeface="Arial"/>
                <a:cs typeface="Arial"/>
              </a:rPr>
              <a:t>Tijek obrade poruke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57F6BEA-6F83-4EF0-A0F7-F116A1970488}"/>
              </a:ext>
            </a:extLst>
          </p:cNvPr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hr-H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5571158-1FC2-4148-B802-DCBA3205E748}"/>
              </a:ext>
            </a:extLst>
          </p:cNvPr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hr-HR" sz="1200">
                <a:solidFill>
                  <a:srgbClr val="808080"/>
                </a:solidFill>
                <a:latin typeface="Arial"/>
                <a:cs typeface="Arial"/>
              </a:rPr>
              <a:t>9 / 27</a:t>
            </a:r>
          </a:p>
        </p:txBody>
      </p:sp>
    </p:spTree>
    <p:extLst>
      <p:ext uri="{BB962C8B-B14F-4D97-AF65-F5344CB8AC3E}">
        <p14:creationId xmlns:p14="http://schemas.microsoft.com/office/powerpoint/2010/main" val="127865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Deduplikacija i idempotentnost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6675120" cy="2984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Jedinstveni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msg_id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= {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device_id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}-{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epoch_ms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}-{counter}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Provjera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u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Redisu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: EXISTS,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složenost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O(1), &lt; 1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ms</a:t>
            </a:r>
            <a:endParaRPr sz="20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Poznat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identifikator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→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poruka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se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odbacuje</a:t>
            </a:r>
            <a:endParaRPr sz="20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 dirty="0">
                <a:solidFill>
                  <a:srgbClr val="000000"/>
                </a:solidFill>
                <a:latin typeface="Arial"/>
              </a:rPr>
              <a:t>●  Novi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identifikator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→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upis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u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bazu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,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zatim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SET EX 3600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 dirty="0">
                <a:solidFill>
                  <a:srgbClr val="000000"/>
                </a:solidFill>
                <a:latin typeface="Arial"/>
              </a:rPr>
              <a:t>●  TTL 3600 s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pokriva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sve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realne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prozore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retransmisije</a:t>
            </a:r>
            <a:endParaRPr sz="20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Odvojeni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prostori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ključeva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: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dedup:ingestion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/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dedup:alerting</a:t>
            </a:r>
            <a:endParaRPr sz="2000" b="0" i="0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" name="Picture 4" descr="raw_p2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8189" y="457199"/>
            <a:ext cx="3270851" cy="5714803"/>
          </a:xfrm>
          <a:prstGeom prst="rect">
            <a:avLst/>
          </a:prstGeom>
          <a:ln w="9525">
            <a:solidFill>
              <a:srgbClr val="CFD8D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756461" y="6297792"/>
            <a:ext cx="4206240" cy="2060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1" dirty="0">
                <a:solidFill>
                  <a:srgbClr val="808080"/>
                </a:solidFill>
                <a:latin typeface="Arial"/>
              </a:rPr>
              <a:t>Tok </a:t>
            </a:r>
            <a:r>
              <a:rPr sz="1300" b="0" i="1" dirty="0" err="1">
                <a:solidFill>
                  <a:srgbClr val="808080"/>
                </a:solidFill>
                <a:latin typeface="Arial"/>
              </a:rPr>
              <a:t>odluke</a:t>
            </a:r>
            <a:r>
              <a:rPr sz="1300" b="0" i="1" dirty="0">
                <a:solidFill>
                  <a:srgbClr val="808080"/>
                </a:solidFill>
                <a:latin typeface="Arial"/>
              </a:rPr>
              <a:t> </a:t>
            </a:r>
            <a:r>
              <a:rPr sz="1300" b="0" i="1" dirty="0" err="1">
                <a:solidFill>
                  <a:srgbClr val="808080"/>
                </a:solidFill>
                <a:latin typeface="Arial"/>
              </a:rPr>
              <a:t>pri</a:t>
            </a:r>
            <a:r>
              <a:rPr sz="1300" b="0" i="1" dirty="0">
                <a:solidFill>
                  <a:srgbClr val="808080"/>
                </a:solidFill>
                <a:latin typeface="Arial"/>
              </a:rPr>
              <a:t> </a:t>
            </a:r>
            <a:r>
              <a:rPr sz="1300" b="0" i="1" dirty="0" err="1">
                <a:solidFill>
                  <a:srgbClr val="808080"/>
                </a:solidFill>
                <a:latin typeface="Arial"/>
              </a:rPr>
              <a:t>deduplikaciji</a:t>
            </a:r>
            <a:endParaRPr sz="1300" b="0" i="1" dirty="0">
              <a:solidFill>
                <a:srgbClr val="808080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9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194540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Slojevi pouzdanosti (1/2): uređaj i posrednik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316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Pouzdanost ne počiva na jednom mehanizmu, nego na komplementarnim slojevima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000" y="2286000"/>
            <a:ext cx="5207000" cy="3429000"/>
          </a:xfrm>
          <a:prstGeom prst="roundRect">
            <a:avLst/>
          </a:prstGeom>
          <a:solidFill>
            <a:srgbClr val="EEF3F6"/>
          </a:solidFill>
          <a:ln w="12700" cap="flat" cmpd="sng" algn="ctr">
            <a:solidFill>
              <a:srgbClr val="2E86AB"/>
            </a:solidFill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rtlCol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2000" b="1" i="0" dirty="0" err="1">
                <a:solidFill>
                  <a:srgbClr val="12263A"/>
                </a:solidFill>
                <a:latin typeface="Arial"/>
              </a:rPr>
              <a:t>Uređaj</a:t>
            </a:r>
            <a:r>
              <a:rPr sz="2000" b="1" i="0" dirty="0">
                <a:solidFill>
                  <a:srgbClr val="12263A"/>
                </a:solidFill>
                <a:latin typeface="Arial"/>
              </a:rPr>
              <a:t> ESP32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000000"/>
                </a:solidFill>
                <a:latin typeface="Arial"/>
              </a:rPr>
              <a:t>●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Kružni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međuspremnik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(engl. </a:t>
            </a:r>
            <a:r>
              <a:rPr sz="2000" b="0" i="1" dirty="0">
                <a:solidFill>
                  <a:srgbClr val="000000"/>
                </a:solidFill>
                <a:latin typeface="Arial"/>
              </a:rPr>
              <a:t>outbox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000000"/>
                </a:solidFill>
                <a:latin typeface="Arial"/>
              </a:rPr>
              <a:t>●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Neblokirajuće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ponovno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spajanje</a:t>
            </a:r>
            <a:endParaRPr sz="20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000000"/>
                </a:solidFill>
                <a:latin typeface="Arial"/>
              </a:rPr>
              <a:t>●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Blokirajuće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početno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spajanje</a:t>
            </a:r>
            <a:endParaRPr sz="2000" b="0" i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350000" y="2286000"/>
            <a:ext cx="5207000" cy="3429000"/>
          </a:xfrm>
          <a:prstGeom prst="roundRect">
            <a:avLst/>
          </a:prstGeom>
          <a:solidFill>
            <a:srgbClr val="EEF3F6"/>
          </a:solidFill>
          <a:ln w="12700" cap="flat" cmpd="sng" algn="ctr">
            <a:solidFill>
              <a:srgbClr val="2E86AB"/>
            </a:solidFill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rtlCol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2000" b="1" i="0" dirty="0" err="1">
                <a:solidFill>
                  <a:srgbClr val="12263A"/>
                </a:solidFill>
                <a:latin typeface="Arial"/>
              </a:rPr>
              <a:t>Posrednik</a:t>
            </a:r>
            <a:r>
              <a:rPr sz="2000" b="1" i="0" dirty="0">
                <a:solidFill>
                  <a:srgbClr val="12263A"/>
                </a:solidFill>
                <a:latin typeface="Arial"/>
              </a:rPr>
              <a:t> </a:t>
            </a:r>
            <a:r>
              <a:rPr sz="2000" b="1" i="0" dirty="0" err="1">
                <a:solidFill>
                  <a:srgbClr val="12263A"/>
                </a:solidFill>
                <a:latin typeface="Arial"/>
              </a:rPr>
              <a:t>Mosquitto</a:t>
            </a:r>
            <a:endParaRPr sz="2000" b="1" i="0" dirty="0">
              <a:solidFill>
                <a:srgbClr val="12263A"/>
              </a:solidFill>
              <a:latin typeface="Arial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000000"/>
                </a:solidFill>
                <a:latin typeface="Arial"/>
              </a:rPr>
              <a:t>●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Perzistentna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sesija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000" b="0" i="0" dirty="0">
                <a:solidFill>
                  <a:srgbClr val="000000"/>
                </a:solidFill>
                <a:latin typeface="Arial"/>
              </a:rPr>
              <a:t>(</a:t>
            </a:r>
            <a:r>
              <a:rPr lang="en-US" sz="1800" b="0" i="0" dirty="0" err="1">
                <a:solidFill>
                  <a:srgbClr val="000000"/>
                </a:solidFill>
                <a:latin typeface="Consolas"/>
              </a:rPr>
              <a:t>cleanSession</a:t>
            </a:r>
            <a:r>
              <a:rPr lang="en-US" sz="1800" b="0" i="0" dirty="0">
                <a:solidFill>
                  <a:srgbClr val="000000"/>
                </a:solidFill>
                <a:latin typeface="Consolas"/>
              </a:rPr>
              <a:t>=false</a:t>
            </a:r>
            <a:r>
              <a:rPr lang="en-US" sz="2000" b="0" i="0" dirty="0">
                <a:solidFill>
                  <a:srgbClr val="000000"/>
                </a:solidFill>
                <a:latin typeface="Arial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lang="en-US" sz="2000" b="0" i="0" dirty="0">
                <a:solidFill>
                  <a:srgbClr val="000000"/>
                </a:solidFill>
                <a:latin typeface="Arial"/>
              </a:rPr>
              <a:t>● </a:t>
            </a:r>
            <a:r>
              <a:rPr lang="en-US" sz="2000" b="0" i="0" dirty="0" err="1">
                <a:solidFill>
                  <a:srgbClr val="000000"/>
                </a:solidFill>
                <a:latin typeface="Arial"/>
              </a:rPr>
              <a:t>Perzistencija</a:t>
            </a:r>
            <a:r>
              <a:rPr lang="en-US"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sz="2000" b="0" i="0" dirty="0" err="1">
                <a:solidFill>
                  <a:srgbClr val="000000"/>
                </a:solidFill>
                <a:latin typeface="Arial"/>
              </a:rPr>
              <a:t>na</a:t>
            </a:r>
            <a:r>
              <a:rPr lang="en-US" sz="2000" b="0" i="0" dirty="0">
                <a:solidFill>
                  <a:srgbClr val="000000"/>
                </a:solidFill>
                <a:latin typeface="Arial"/>
              </a:rPr>
              <a:t> disk</a:t>
            </a:r>
            <a:r>
              <a:rPr lang="hr-HR" sz="2000" b="0" i="0" dirty="0">
                <a:solidFill>
                  <a:srgbClr val="000000"/>
                </a:solidFill>
                <a:latin typeface="Arial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persistence</a:t>
            </a:r>
            <a:r>
              <a:rPr kumimoji="0" lang="hr-HR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/>
                <a:ea typeface="+mn-ea"/>
                <a:cs typeface="+mn-cs"/>
              </a:rPr>
              <a:t>true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)</a:t>
            </a:r>
            <a:endParaRPr lang="hr-HR" sz="20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endParaRPr sz="2000" b="0" i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10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712672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Slojevi pouzdanosti (2/2): servis i aplikacijski sloj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35000" y="2286000"/>
            <a:ext cx="5207000" cy="3429000"/>
          </a:xfrm>
          <a:prstGeom prst="roundRect">
            <a:avLst/>
          </a:prstGeom>
          <a:solidFill>
            <a:srgbClr val="EEF3F6"/>
          </a:solidFill>
          <a:ln w="12700" cap="flat" cmpd="sng" algn="ctr">
            <a:solidFill>
              <a:srgbClr val="2E86AB"/>
            </a:solidFill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rtlCol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2000" b="1" i="0" dirty="0">
                <a:solidFill>
                  <a:srgbClr val="12263A"/>
                </a:solidFill>
                <a:latin typeface="Arial"/>
              </a:rPr>
              <a:t>Servis Spring Boot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000000"/>
                </a:solidFill>
                <a:latin typeface="Arial"/>
              </a:rPr>
              <a:t>●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Ručno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potvrđivanje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primitka</a:t>
            </a:r>
            <a:endParaRPr lang="en-US" sz="20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000000"/>
                </a:solidFill>
                <a:latin typeface="Arial"/>
              </a:rPr>
              <a:t>●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Obnova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pretplate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(</a:t>
            </a:r>
            <a:r>
              <a:rPr sz="1800" b="0" i="0" dirty="0" err="1">
                <a:solidFill>
                  <a:srgbClr val="000000"/>
                </a:solidFill>
                <a:latin typeface="Consolas"/>
              </a:rPr>
              <a:t>connectComplete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0000" y="2286000"/>
            <a:ext cx="5207000" cy="3429000"/>
          </a:xfrm>
          <a:prstGeom prst="roundRect">
            <a:avLst/>
          </a:prstGeom>
          <a:solidFill>
            <a:srgbClr val="EEF3F6"/>
          </a:solidFill>
          <a:ln w="12700" cap="flat" cmpd="sng" algn="ctr">
            <a:solidFill>
              <a:srgbClr val="2E86AB"/>
            </a:solidFill>
            <a:prstDash val="solid"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rtlCol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2000" b="1" i="0">
                <a:solidFill>
                  <a:srgbClr val="12263A"/>
                </a:solidFill>
                <a:latin typeface="Arial"/>
              </a:rPr>
              <a:t>Aplikacijski sloj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QoS 1 (barem jednom)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Redis deduplikacija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Jedinstveni </a:t>
            </a:r>
            <a:r>
              <a:rPr sz="1800" b="0" i="0">
                <a:solidFill>
                  <a:srgbClr val="000000"/>
                </a:solidFill>
                <a:latin typeface="Consolas"/>
              </a:rPr>
              <a:t>msg_id</a:t>
            </a:r>
            <a:r>
              <a:rPr sz="2000" b="0" i="0">
                <a:solidFill>
                  <a:srgbClr val="000000"/>
                </a:solidFill>
                <a:latin typeface="Arial"/>
              </a:rPr>
              <a:t> → pohrana točno jednom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5969000"/>
            <a:ext cx="10922000" cy="3169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63A"/>
                </a:solidFill>
                <a:latin typeface="Arial"/>
              </a:rPr>
              <a:t>Rezultat: nulti gubitak poruka i idempotentna obrada u svim scenarijima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11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664855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Ugrađeni program uređaja ESP32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5486400" cy="4937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C++ / Arduino, alat PlatformIO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DHT11 na GPIO 4, prekidač GPIO 27, LED GPIO 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Objava svakih 5 s, razina QoS 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NTP sinkronizacija za točan timestamp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msg_id generiran po svakoj objavi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Outbox: kružni spremnik (256 unosa, drop-oldest)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Neblokirajuće ponovno spajanje na Wi-Fi i posrednika</a:t>
            </a:r>
          </a:p>
        </p:txBody>
      </p:sp>
      <p:pic>
        <p:nvPicPr>
          <p:cNvPr id="5" name="Picture 4" descr="raw_p25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4422" y="1554480"/>
            <a:ext cx="5219154" cy="4206240"/>
          </a:xfrm>
          <a:prstGeom prst="rect">
            <a:avLst/>
          </a:prstGeom>
          <a:ln w="9525">
            <a:solidFill>
              <a:srgbClr val="CFD8D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00800" y="580644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1">
                <a:solidFill>
                  <a:srgbClr val="808080"/>
                </a:solidFill>
                <a:latin typeface="Arial"/>
              </a:rPr>
              <a:t>Sl. 3.1  Spoj ESP32, DHT11 i prekidača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12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056907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Implementacija mikroservisa (Spring Boot)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35000" y="1651000"/>
            <a:ext cx="10922000" cy="28414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Java 17, Spring Boot 3.2.5, Paho MQTT klijent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Zajednička osnova, razdvojene odgovornosti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Servis za unos: deduplikacija + pohrana očitanja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Servis za upozorenja: pravila + webhook obavijesti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Deduplikacija: Redis (</a:t>
            </a:r>
            <a:r>
              <a:rPr sz="1800" b="0" i="0">
                <a:solidFill>
                  <a:srgbClr val="000000"/>
                </a:solidFill>
                <a:latin typeface="Consolas"/>
              </a:rPr>
              <a:t>hasKey</a:t>
            </a:r>
            <a:r>
              <a:rPr sz="2000" b="0" i="0">
                <a:solidFill>
                  <a:srgbClr val="000000"/>
                </a:solidFill>
                <a:latin typeface="Arial"/>
              </a:rPr>
              <a:t> / </a:t>
            </a:r>
            <a:r>
              <a:rPr sz="1800" b="0" i="0">
                <a:solidFill>
                  <a:srgbClr val="000000"/>
                </a:solidFill>
                <a:latin typeface="Consolas"/>
              </a:rPr>
              <a:t>set EX</a:t>
            </a:r>
            <a:r>
              <a:rPr sz="2000" b="0" i="0">
                <a:solidFill>
                  <a:srgbClr val="000000"/>
                </a:solidFill>
                <a:latin typeface="Arial"/>
              </a:rPr>
              <a:t>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Ručna potvrda tek nakon uspješne obrade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Razine ozbiljnosti: </a:t>
            </a:r>
            <a:r>
              <a:rPr sz="1800" b="0" i="0">
                <a:solidFill>
                  <a:srgbClr val="000000"/>
                </a:solidFill>
                <a:latin typeface="Consolas"/>
              </a:rPr>
              <a:t>WARNING</a:t>
            </a:r>
            <a:r>
              <a:rPr sz="2000" b="0" i="0">
                <a:solidFill>
                  <a:srgbClr val="000000"/>
                </a:solidFill>
                <a:latin typeface="Arial"/>
              </a:rPr>
              <a:t> i </a:t>
            </a:r>
            <a:r>
              <a:rPr sz="1800" b="0" i="0">
                <a:solidFill>
                  <a:srgbClr val="000000"/>
                </a:solidFill>
                <a:latin typeface="Consolas"/>
              </a:rPr>
              <a:t>CRITICAL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13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206432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Idempotentna obrada poruke (kod)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286000" y="2540000"/>
            <a:ext cx="7620000" cy="2921000"/>
          </a:xfrm>
          <a:prstGeom prst="roundRect">
            <a:avLst/>
          </a:prstGeom>
          <a:solidFill>
            <a:srgbClr val="EE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64592" tIns="146304" rIns="109728" rtlCol="0" anchor="ctr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12263A"/>
                </a:solidFill>
                <a:latin typeface="Consolas"/>
              </a:rPr>
              <a:t>// obrada poruke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12263A"/>
                </a:solidFill>
                <a:latin typeface="Consolas"/>
              </a:rPr>
              <a:t>if (dedup.isDuplicate(id))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12263A"/>
                </a:solidFill>
                <a:latin typeface="Consolas"/>
              </a:rPr>
              <a:t>    return true;            // odbaci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12263A"/>
                </a:solidFill>
                <a:latin typeface="Consolas"/>
              </a:rPr>
              <a:t>repo.save(reading);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12263A"/>
                </a:solidFill>
                <a:latin typeface="Consolas"/>
              </a:rPr>
              <a:t>dedup.markProcessed(id);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12263A"/>
                </a:solidFill>
                <a:latin typeface="Consolas"/>
              </a:rPr>
              <a:t>ack(message);              // ručna potvrda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5651500"/>
            <a:ext cx="109220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dirty="0" err="1">
                <a:solidFill>
                  <a:srgbClr val="12263A"/>
                </a:solidFill>
                <a:latin typeface="Arial"/>
              </a:rPr>
              <a:t>Redoslijed</a:t>
            </a:r>
            <a:r>
              <a:rPr sz="2000" b="1" i="0" dirty="0">
                <a:solidFill>
                  <a:srgbClr val="12263A"/>
                </a:solidFill>
                <a:latin typeface="Arial"/>
              </a:rPr>
              <a:t>: </a:t>
            </a:r>
            <a:r>
              <a:rPr sz="2000" b="1" i="0" dirty="0" err="1">
                <a:solidFill>
                  <a:srgbClr val="12263A"/>
                </a:solidFill>
                <a:latin typeface="Arial"/>
              </a:rPr>
              <a:t>upis</a:t>
            </a:r>
            <a:r>
              <a:rPr sz="2000" b="1" i="0" dirty="0">
                <a:solidFill>
                  <a:srgbClr val="12263A"/>
                </a:solidFill>
                <a:latin typeface="Arial"/>
              </a:rPr>
              <a:t> u </a:t>
            </a:r>
            <a:r>
              <a:rPr sz="2000" b="1" i="0" dirty="0" err="1">
                <a:solidFill>
                  <a:srgbClr val="12263A"/>
                </a:solidFill>
                <a:latin typeface="Arial"/>
              </a:rPr>
              <a:t>bazu</a:t>
            </a:r>
            <a:r>
              <a:rPr sz="2000" b="1" i="0" dirty="0">
                <a:solidFill>
                  <a:srgbClr val="12263A"/>
                </a:solidFill>
                <a:latin typeface="Arial"/>
              </a:rPr>
              <a:t> → </a:t>
            </a:r>
            <a:r>
              <a:rPr sz="2000" b="1" i="0" dirty="0" err="1">
                <a:solidFill>
                  <a:srgbClr val="12263A"/>
                </a:solidFill>
                <a:latin typeface="Arial"/>
              </a:rPr>
              <a:t>oznaka</a:t>
            </a:r>
            <a:r>
              <a:rPr sz="2000" b="1" i="0" dirty="0">
                <a:solidFill>
                  <a:srgbClr val="12263A"/>
                </a:solidFill>
                <a:latin typeface="Arial"/>
              </a:rPr>
              <a:t> u Redis → </a:t>
            </a:r>
            <a:r>
              <a:rPr sz="2000" b="1" i="0" dirty="0" err="1">
                <a:solidFill>
                  <a:srgbClr val="12263A"/>
                </a:solidFill>
                <a:latin typeface="Arial"/>
              </a:rPr>
              <a:t>potvrda</a:t>
            </a:r>
            <a:r>
              <a:rPr sz="2000" b="1" i="0" dirty="0">
                <a:solidFill>
                  <a:srgbClr val="12263A"/>
                </a:solidFill>
                <a:latin typeface="Arial"/>
              </a:rPr>
              <a:t> </a:t>
            </a:r>
            <a:r>
              <a:rPr sz="2000" b="1" i="0" dirty="0" err="1">
                <a:solidFill>
                  <a:srgbClr val="12263A"/>
                </a:solidFill>
                <a:latin typeface="Arial"/>
              </a:rPr>
              <a:t>posredniku</a:t>
            </a:r>
            <a:endParaRPr sz="2000" b="1" i="0" dirty="0">
              <a:solidFill>
                <a:srgbClr val="12263A"/>
              </a:solidFill>
              <a:latin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14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  <p:sp>
        <p:nvSpPr>
          <p:cNvPr id="8" name="IntroBullet">
            <a:extLst>
              <a:ext uri="{FF2B5EF4-FFF2-40B4-BE49-F238E27FC236}">
                <a16:creationId xmlns:a16="http://schemas.microsoft.com/office/drawing/2014/main" id="{5D7A28D5-2466-4782-9339-91E0D06E79C9}"/>
              </a:ext>
            </a:extLst>
          </p:cNvPr>
          <p:cNvSpPr txBox="1"/>
          <p:nvPr/>
        </p:nvSpPr>
        <p:spPr>
          <a:xfrm>
            <a:off x="635000" y="1714500"/>
            <a:ext cx="10922000" cy="5715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hr-HR" sz="2000">
                <a:solidFill>
                  <a:srgbClr val="000000"/>
                </a:solidFill>
                <a:latin typeface="Arial"/>
                <a:cs typeface="Arial"/>
              </a:rPr>
              <a:t>●  Ključ idempotentnosti je redoslijed koraka pri obradi poruke</a:t>
            </a:r>
          </a:p>
        </p:txBody>
      </p:sp>
    </p:spTree>
    <p:extLst>
      <p:ext uri="{BB962C8B-B14F-4D97-AF65-F5344CB8AC3E}">
        <p14:creationId xmlns:p14="http://schemas.microsoft.com/office/powerpoint/2010/main" val="20921812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Perzistencija: PostgreSQL + TimescaleDB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10424160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●  Relacijska baza PostgreSQL proširena ekstenzijom TimescaleDB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●  Tablice telemetry_readings i alert_events pretvorene u hipertablice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●  Automatsko particioniranje po vremenu (received_at / created_at)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●  Flyway migracije pri pokretanju svakog servisa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●  msg_id: nejedinstveni indeks (ograničenje hipertablica)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3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●  Latencija = received_at − timestamp (temeljna mjera u eksperimentima)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15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147323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Infrastruktura i pokretanje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5486400" cy="33216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Docker Compose: 6 servisa</a:t>
            </a:r>
          </a:p>
          <a:p>
            <a:pPr marL="384048" indent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202020"/>
                </a:solidFill>
                <a:latin typeface="Arial"/>
              </a:rPr>
              <a:t>–  mosquitto, redis, postgres</a:t>
            </a:r>
          </a:p>
          <a:p>
            <a:pPr marL="384048" indent="0"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0" i="0">
                <a:solidFill>
                  <a:srgbClr val="202020"/>
                </a:solidFill>
                <a:latin typeface="Arial"/>
              </a:rPr>
              <a:t>–  ingestion, alerting, webhook-mock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Jedna naredba: docker compose up --build -d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depends_on + healthcheck (ispravan redoslijed)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Višefazni Dockerfile (manja, sigurnija slika)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Deterministički i ponovljiv razvoj</a:t>
            </a:r>
          </a:p>
        </p:txBody>
      </p:sp>
      <p:pic>
        <p:nvPicPr>
          <p:cNvPr id="5" name="Picture 4" descr="raw_p23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300843"/>
            <a:ext cx="5394960" cy="2713512"/>
          </a:xfrm>
          <a:prstGeom prst="rect">
            <a:avLst/>
          </a:prstGeom>
          <a:ln w="9525">
            <a:solidFill>
              <a:srgbClr val="CFD8DC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00800" y="5669280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1">
                <a:solidFill>
                  <a:srgbClr val="808080"/>
                </a:solidFill>
                <a:latin typeface="Arial"/>
              </a:rPr>
              <a:t>Sl. 2.4  Topologija servisa u okruženju Docker Compose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16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977106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Metodologija testiranja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10424160" cy="4846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●  Generator opterećenja u Pythonu (paho-mqtt), N virtualnih uređaja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●  Isti oblik msg_id kao stvarni ESP32 (servisi ih obrađuju istovjetno)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●  Mjere performansi: protok, latencija (P50 / P95 / P99)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●  Mjere pouzdanosti: gubitak, duplikati, nadoknada nakon kvara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●  Gubitak (%) = (poslano − jedinstveno pohranjeno) / poslano × 100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●  Svaki scenarij iz čistog stanja (TRUNCATE + FLUSHDB), mjere iz SQL upita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100"/>
              </a:spcAft>
            </a:pPr>
            <a:r>
              <a:rPr sz="2100" b="0" i="0">
                <a:solidFill>
                  <a:srgbClr val="000000"/>
                </a:solidFill>
                <a:latin typeface="Arial"/>
              </a:rPr>
              <a:t>●  Šest scenarija: T1 do T6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17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058155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Rezultati T1: stabilno opterećenje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160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404040"/>
                </a:solidFill>
                <a:latin typeface="Arial"/>
              </a:rPr>
              <a:t>T1 · stabilno opterećenje (~20 msg/s, prosjek 3 pokretanja)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0860500"/>
              </p:ext>
            </p:extLst>
          </p:nvPr>
        </p:nvGraphicFramePr>
        <p:xfrm>
          <a:off x="774700" y="1905000"/>
          <a:ext cx="7620000" cy="3048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9305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89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Mjera</a:t>
                      </a:r>
                    </a:p>
                  </a:txBody>
                  <a:tcPr marL="73152" marR="54864" marT="18288" marB="18288" anchor="ctr"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Vrijednost</a:t>
                      </a:r>
                    </a:p>
                  </a:txBody>
                  <a:tcPr marL="73152" marR="54864" marT="18288" marB="18288" anchor="ctr">
                    <a:solidFill>
                      <a:srgbClr val="2E86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Objavljeno / pohranjeno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2400 / 2400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Gubitak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0,0 %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P50 latencija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16,6 ms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P95 / P99 latencija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29,0 / 35,5 ms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Protok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20,1 msg/s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4700" y="5207000"/>
            <a:ext cx="10642600" cy="7278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Nulti gubitak, medijan latencije ispod 20 ms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Režija deduplikacije stabilna i zanemariva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18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596041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Rezultati T2: razine QoS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603504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404040"/>
                </a:solidFill>
                <a:latin typeface="Arial"/>
              </a:rPr>
              <a:t>T2 · QoS 0 nasuprot QoS 1/2 (nedostupan potrošač)</a:t>
            </a:r>
          </a:p>
        </p:txBody>
      </p:sp>
      <p:pic>
        <p:nvPicPr>
          <p:cNvPr id="7" name="Picture 6" descr="chart_q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68500"/>
            <a:ext cx="5461000" cy="3479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5562600"/>
            <a:ext cx="54610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 i="0">
                <a:solidFill>
                  <a:srgbClr val="808080"/>
                </a:solidFill>
                <a:latin typeface="Arial"/>
              </a:rPr>
              <a:t>Sl. 6.1  T2: QoS 0 nasuprot QoS 1/2 (nedostupan potrošač)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19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  <p:sp>
        <p:nvSpPr>
          <p:cNvPr id="10" name="T2Bullets">
            <a:extLst>
              <a:ext uri="{FF2B5EF4-FFF2-40B4-BE49-F238E27FC236}">
                <a16:creationId xmlns:a16="http://schemas.microsoft.com/office/drawing/2014/main" id="{32B8A9BD-353E-494F-B014-6F316D1E6EBD}"/>
              </a:ext>
            </a:extLst>
          </p:cNvPr>
          <p:cNvSpPr txBox="1"/>
          <p:nvPr/>
        </p:nvSpPr>
        <p:spPr>
          <a:xfrm>
            <a:off x="6921500" y="2222500"/>
            <a:ext cx="4826000" cy="227697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QoS 0: pri nedostupnom potrošaču 100 % gubitak (bez retransmisije)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QoS 1 i QoS 2: 0 % gubitka (poruke dostavljene po ponovnom spajanju)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Potvrda: izbor QoS 1 nužan uvjet za nulti gubitak</a:t>
            </a:r>
          </a:p>
        </p:txBody>
      </p:sp>
    </p:spTree>
    <p:extLst>
      <p:ext uri="{BB962C8B-B14F-4D97-AF65-F5344CB8AC3E}">
        <p14:creationId xmlns:p14="http://schemas.microsoft.com/office/powerpoint/2010/main" val="1732995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Rezultati T3: obrada duplikata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52120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404040"/>
                </a:solidFill>
                <a:latin typeface="Arial"/>
              </a:rPr>
              <a:t>T3 · obrada duplikata (ista poruka 5×)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9035216"/>
              </p:ext>
            </p:extLst>
          </p:nvPr>
        </p:nvGraphicFramePr>
        <p:xfrm>
          <a:off x="774700" y="1905000"/>
          <a:ext cx="7112000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2025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47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47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Mjera</a:t>
                      </a:r>
                    </a:p>
                  </a:txBody>
                  <a:tcPr marL="73152" marR="54864" marT="18288" marB="18288" anchor="ctr"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Oček.</a:t>
                      </a:r>
                    </a:p>
                  </a:txBody>
                  <a:tcPr marL="73152" marR="54864" marT="18288" marB="18288" anchor="ctr"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Izmj.</a:t>
                      </a:r>
                    </a:p>
                  </a:txBody>
                  <a:tcPr marL="73152" marR="54864" marT="18288" marB="18288" anchor="ctr">
                    <a:solidFill>
                      <a:srgbClr val="2E86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Pohranjenih redaka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1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Odbačenih duplikata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4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4700" y="4318000"/>
            <a:ext cx="10642600" cy="71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Prva poruka pohranjena, četiri ponovljene isporuke odbačene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Idempotentnost potvrđena izravno (</a:t>
            </a:r>
            <a:r>
              <a:rPr sz="1800" b="0" i="0">
                <a:solidFill>
                  <a:srgbClr val="000000"/>
                </a:solidFill>
                <a:latin typeface="Consolas"/>
              </a:rPr>
              <a:t>msg_id</a:t>
            </a:r>
            <a:r>
              <a:rPr sz="2000" b="0" i="0">
                <a:solidFill>
                  <a:srgbClr val="000000"/>
                </a:solidFill>
                <a:latin typeface="Arial"/>
              </a:rPr>
              <a:t> + Redis </a:t>
            </a:r>
            <a:r>
              <a:rPr sz="1800" b="0" i="0">
                <a:solidFill>
                  <a:srgbClr val="000000"/>
                </a:solidFill>
                <a:latin typeface="Consolas"/>
              </a:rPr>
              <a:t>EXISTS</a:t>
            </a:r>
            <a:r>
              <a:rPr sz="2000" b="0" i="0">
                <a:solidFill>
                  <a:srgbClr val="000000"/>
                </a:solidFill>
                <a:latin typeface="Arial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20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670821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Rezultati T4: kvar posrednika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4700" y="1371600"/>
            <a:ext cx="9652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>
                <a:solidFill>
                  <a:srgbClr val="404040"/>
                </a:solidFill>
                <a:latin typeface="Arial"/>
              </a:rPr>
              <a:t>T4 · kvar posrednika (outbox uređaja)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9541618"/>
              </p:ext>
            </p:extLst>
          </p:nvPr>
        </p:nvGraphicFramePr>
        <p:xfrm>
          <a:off x="774700" y="1905000"/>
          <a:ext cx="7112000" cy="137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25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3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3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Varijanta</a:t>
                      </a:r>
                    </a:p>
                  </a:txBody>
                  <a:tcPr marL="73152" marR="54864" marT="18288" marB="18288" anchor="ctr"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Prekid</a:t>
                      </a:r>
                    </a:p>
                  </a:txBody>
                  <a:tcPr marL="73152" marR="54864" marT="18288" marB="18288" anchor="ctr"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Gubitak</a:t>
                      </a:r>
                    </a:p>
                  </a:txBody>
                  <a:tcPr marL="73152" marR="54864" marT="18288" marB="18288" anchor="ctr">
                    <a:solidFill>
                      <a:srgbClr val="2E86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Ispod kapaciteta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300 s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0,0 %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Iznad kapaciteta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900 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28,1 %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4700" y="4064000"/>
            <a:ext cx="10642600" cy="11263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Kraći prekid: nulti gubitak (očitanja u međuspremniku, reprodukcija pri spajanju)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Dulji prekid: spremnik se popuni, odbacuje najstarije (predvidljivih 28,1 %)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Uređaj degradira kontrolirano, bez rušenja ni nekontroliranog rasta memorije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21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054805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Rezultati T5: kvar servisa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521208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404040"/>
                </a:solidFill>
                <a:latin typeface="Arial"/>
              </a:rPr>
              <a:t>T5 · kvar servisa za unos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1714933"/>
              </p:ext>
            </p:extLst>
          </p:nvPr>
        </p:nvGraphicFramePr>
        <p:xfrm>
          <a:off x="774700" y="1905000"/>
          <a:ext cx="7112000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741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06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Mjera</a:t>
                      </a:r>
                    </a:p>
                  </a:txBody>
                  <a:tcPr marL="73152" marR="54864" marT="18288" marB="18288" anchor="ctr"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Vrijednost</a:t>
                      </a:r>
                    </a:p>
                  </a:txBody>
                  <a:tcPr marL="73152" marR="54864" marT="18288" marB="18288" anchor="ctr">
                    <a:solidFill>
                      <a:srgbClr val="2E86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Objavljeno / pohranjeno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360 / 360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Gubitak / duplikati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0 % / 0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Vrijeme nadoknade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3,2 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4700" y="4318000"/>
            <a:ext cx="10642600" cy="717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Sve poruke iz nedostupnosti isporučene i pohranjene, bez gubitka i duplikata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Posrednik čuva poruke za trajnog pretplatnika (</a:t>
            </a:r>
            <a:r>
              <a:rPr sz="1800" b="0" i="0">
                <a:solidFill>
                  <a:srgbClr val="000000"/>
                </a:solidFill>
                <a:latin typeface="Consolas"/>
              </a:rPr>
              <a:t>cleanSession=false</a:t>
            </a:r>
            <a:r>
              <a:rPr sz="2000" b="0" i="0">
                <a:solidFill>
                  <a:srgbClr val="000000"/>
                </a:solidFill>
                <a:latin typeface="Arial"/>
              </a:rPr>
              <a:t> + perzistencija)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22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10242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Rezultati T6: deduplikacija pod opterećenjem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4700" y="1371600"/>
            <a:ext cx="965200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404040"/>
                </a:solidFill>
                <a:latin typeface="Arial"/>
              </a:rPr>
              <a:t>T6 · deduplikacija pod opterećenjem (~385 msg/s)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8182071"/>
              </p:ext>
            </p:extLst>
          </p:nvPr>
        </p:nvGraphicFramePr>
        <p:xfrm>
          <a:off x="774700" y="1905000"/>
          <a:ext cx="7112000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9783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36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Mjera</a:t>
                      </a:r>
                    </a:p>
                  </a:txBody>
                  <a:tcPr marL="73152" marR="54864" marT="18288" marB="18288" anchor="ctr">
                    <a:solidFill>
                      <a:srgbClr val="2E86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Vrijednost</a:t>
                      </a:r>
                    </a:p>
                  </a:txBody>
                  <a:tcPr marL="73152" marR="54864" marT="18288" marB="18288" anchor="ctr">
                    <a:solidFill>
                      <a:srgbClr val="2E86A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Objavljeno / pohranjeno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23566 / 23566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Gubitak / duplikati u bazi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0 % / 0</a:t>
                      </a:r>
                    </a:p>
                  </a:txBody>
                  <a:tcPr marL="73152" marR="54864" marT="18288" marB="18288" anchor="ctr">
                    <a:solidFill>
                      <a:srgbClr val="EEF3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Redis zauzeće (47132 ključa)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i="0">
                          <a:solidFill>
                            <a:srgbClr val="000000"/>
                          </a:solidFill>
                          <a:latin typeface="Arial"/>
                          <a:cs typeface="Arial"/>
                        </a:rPr>
                        <a:t>6,67 MB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4700" y="4318000"/>
            <a:ext cx="10642600" cy="717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Nulti gubitak i nula duplikata i pri dvostrukom preopterećenju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Sustav trampi latenciju za trajnost (protupritisak), umjesto odbacivanja podataka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23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323711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Analiza rezultata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77240" y="1554480"/>
            <a:ext cx="2514600" cy="1371600"/>
          </a:xfrm>
          <a:prstGeom prst="roundRect">
            <a:avLst/>
          </a:prstGeom>
          <a:solidFill>
            <a:srgbClr val="EEF3F6"/>
          </a:solidFill>
          <a:ln w="12700">
            <a:solidFill>
              <a:srgbClr val="D5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 i="0">
                <a:solidFill>
                  <a:srgbClr val="12263A"/>
                </a:solidFill>
                <a:latin typeface="Arial"/>
              </a:rPr>
              <a:t>0 %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gubitak poruka</a:t>
            </a:r>
            <a:br/>
            <a:r>
              <a:rPr sz="1800" b="0" i="0">
                <a:solidFill>
                  <a:srgbClr val="000000"/>
                </a:solidFill>
                <a:latin typeface="Arial"/>
              </a:rPr>
              <a:t>(svi scenariji)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554480"/>
            <a:ext cx="2514600" cy="1371600"/>
          </a:xfrm>
          <a:prstGeom prst="roundRect">
            <a:avLst/>
          </a:prstGeom>
          <a:solidFill>
            <a:srgbClr val="EEF3F6"/>
          </a:solidFill>
          <a:ln w="12700">
            <a:solidFill>
              <a:srgbClr val="D5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 i="0">
                <a:solidFill>
                  <a:srgbClr val="12263A"/>
                </a:solidFill>
                <a:latin typeface="Arial"/>
              </a:rPr>
              <a:t>0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duplikata u bazi</a:t>
            </a:r>
            <a:br/>
            <a:r>
              <a:rPr sz="1800" b="0" i="0">
                <a:solidFill>
                  <a:srgbClr val="000000"/>
                </a:solidFill>
                <a:latin typeface="Arial"/>
              </a:rPr>
              <a:t>(T3, T6)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0760" y="1554480"/>
            <a:ext cx="2514600" cy="1371600"/>
          </a:xfrm>
          <a:prstGeom prst="roundRect">
            <a:avLst/>
          </a:prstGeom>
          <a:solidFill>
            <a:srgbClr val="EEF3F6"/>
          </a:solidFill>
          <a:ln w="12700">
            <a:solidFill>
              <a:srgbClr val="D5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 i="0">
                <a:solidFill>
                  <a:srgbClr val="12263A"/>
                </a:solidFill>
                <a:latin typeface="Arial"/>
              </a:rPr>
              <a:t>16,6 ms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medijan latencije</a:t>
            </a:r>
            <a:br/>
            <a:r>
              <a:rPr sz="1800" b="0" i="0">
                <a:solidFill>
                  <a:srgbClr val="000000"/>
                </a:solidFill>
                <a:latin typeface="Arial"/>
              </a:rPr>
              <a:t>(T1)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32520" y="1554480"/>
            <a:ext cx="2651760" cy="1371600"/>
          </a:xfrm>
          <a:prstGeom prst="roundRect">
            <a:avLst/>
          </a:prstGeom>
          <a:solidFill>
            <a:srgbClr val="EEF3F6"/>
          </a:solidFill>
          <a:ln w="12700">
            <a:solidFill>
              <a:srgbClr val="D5DE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 i="0">
                <a:solidFill>
                  <a:srgbClr val="12263A"/>
                </a:solidFill>
                <a:latin typeface="Arial"/>
              </a:rPr>
              <a:t>3,2 s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000000"/>
                </a:solidFill>
                <a:latin typeface="Arial"/>
              </a:rPr>
              <a:t>vrijeme nadoknade</a:t>
            </a:r>
            <a:br/>
            <a:r>
              <a:rPr sz="1800" b="0" i="0">
                <a:solidFill>
                  <a:srgbClr val="000000"/>
                </a:solidFill>
                <a:latin typeface="Arial"/>
              </a:rPr>
              <a:t>(T5)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37560"/>
            <a:ext cx="10607040" cy="18666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Potvrđena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glavna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teza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: QoS 1 +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deduplikacija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+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perzistentna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sesija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→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nulti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gubitak</a:t>
            </a:r>
            <a:endParaRPr sz="20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Ispravnost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deduplikacije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potvrđena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izravno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(T3)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i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pod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opterećenjem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(T6)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0" i="0" dirty="0">
                <a:solidFill>
                  <a:srgbClr val="000000"/>
                </a:solidFill>
                <a:latin typeface="Arial"/>
              </a:rPr>
              <a:t>●  Pri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praćenju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opterećenja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: P50 &lt; 20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ms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, P99 &lt; 100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ms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(Redis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i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baza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nisu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usko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grlo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0" i="0" dirty="0">
                <a:solidFill>
                  <a:srgbClr val="000000"/>
                </a:solidFill>
                <a:latin typeface="Arial"/>
              </a:rPr>
              <a:t>●  Pri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preopterećenju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ili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kvaru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: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postupna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degradacija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uz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nulti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gubitak</a:t>
            </a:r>
            <a:endParaRPr sz="2000" b="0" i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24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96873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Ograničenja i smjerovi nadogradnje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5500" y="1333500"/>
            <a:ext cx="10515600" cy="21430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000" b="1" i="0" dirty="0" err="1">
                <a:solidFill>
                  <a:srgbClr val="12263A"/>
                </a:solidFill>
                <a:latin typeface="Arial"/>
              </a:rPr>
              <a:t>Ograničenja</a:t>
            </a:r>
            <a:r>
              <a:rPr sz="2000" b="1" i="0" dirty="0">
                <a:solidFill>
                  <a:srgbClr val="12263A"/>
                </a:solidFill>
                <a:latin typeface="Arial"/>
              </a:rPr>
              <a:t>: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Dulji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prekid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od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kapaciteta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međuspremnika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: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gubitak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28,1 % (outbox 256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unosa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, drop-oldest)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000000"/>
                </a:solidFill>
                <a:latin typeface="Arial"/>
              </a:rPr>
              <a:t>●  Bez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jedinstvenog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indeksa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na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000000"/>
                </a:solidFill>
                <a:latin typeface="Consolas"/>
              </a:rPr>
              <a:t>msg_id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u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bazi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(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ograničenje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hipertablica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), idempotentnost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počiva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na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Redisu</a:t>
            </a:r>
            <a:endParaRPr sz="2000" b="0" i="0" dirty="0">
              <a:solidFill>
                <a:srgbClr val="000000"/>
              </a:solidFill>
              <a:latin typeface="Arial"/>
            </a:endParaRP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000000"/>
                </a:solidFill>
                <a:latin typeface="Arial"/>
              </a:rPr>
              <a:t>●  Bez TLS-a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i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provjere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autentičnosti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na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posredniku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(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prototip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u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izoliranoj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mreži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 i="0" dirty="0">
                <a:solidFill>
                  <a:srgbClr val="000000"/>
                </a:solidFill>
                <a:latin typeface="Arial"/>
              </a:rPr>
              <a:t>● 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Jednonitni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potrošač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: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jednostavan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i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bez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zaključavanja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,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ali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ne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skalira</a:t>
            </a:r>
            <a:r>
              <a:rPr sz="20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i="0" dirty="0" err="1">
                <a:solidFill>
                  <a:srgbClr val="000000"/>
                </a:solidFill>
                <a:latin typeface="Arial"/>
              </a:rPr>
              <a:t>horizontalno</a:t>
            </a:r>
            <a:endParaRPr sz="2000" b="0" i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5500" y="4127500"/>
            <a:ext cx="105156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000" b="1" i="0">
                <a:solidFill>
                  <a:srgbClr val="12263A"/>
                </a:solidFill>
                <a:latin typeface="Arial"/>
              </a:rPr>
              <a:t>Smjerovi nadogradnje: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4597400"/>
            <a:ext cx="10198100" cy="9474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28600" indent="-22860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 dirty="0">
                <a:solidFill>
                  <a:srgbClr val="000000"/>
                </a:solidFill>
                <a:latin typeface="Arial"/>
              </a:rPr>
              <a:t>–  TLS </a:t>
            </a:r>
            <a:r>
              <a:rPr sz="1800" b="0" i="0" dirty="0" err="1">
                <a:solidFill>
                  <a:srgbClr val="000000"/>
                </a:solidFill>
                <a:latin typeface="Arial"/>
              </a:rPr>
              <a:t>i</a:t>
            </a:r>
            <a:r>
              <a:rPr sz="18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000000"/>
                </a:solidFill>
                <a:latin typeface="Arial"/>
              </a:rPr>
              <a:t>provjera</a:t>
            </a:r>
            <a:r>
              <a:rPr sz="18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000000"/>
                </a:solidFill>
                <a:latin typeface="Arial"/>
              </a:rPr>
              <a:t>autentičnosti</a:t>
            </a:r>
            <a:r>
              <a:rPr sz="18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000000"/>
                </a:solidFill>
                <a:latin typeface="Arial"/>
              </a:rPr>
              <a:t>na</a:t>
            </a:r>
            <a:r>
              <a:rPr sz="18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000000"/>
                </a:solidFill>
                <a:latin typeface="Arial"/>
              </a:rPr>
              <a:t>posredniku</a:t>
            </a:r>
            <a:endParaRPr sz="1800" b="0" i="0" dirty="0">
              <a:solidFill>
                <a:srgbClr val="000000"/>
              </a:solidFill>
              <a:latin typeface="Arial"/>
            </a:endParaRPr>
          </a:p>
          <a:p>
            <a:pPr marL="228600" indent="-22860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 dirty="0">
                <a:solidFill>
                  <a:srgbClr val="000000"/>
                </a:solidFill>
                <a:latin typeface="Arial"/>
              </a:rPr>
              <a:t>–  </a:t>
            </a:r>
            <a:r>
              <a:rPr sz="1800" b="0" i="0" dirty="0" err="1">
                <a:solidFill>
                  <a:srgbClr val="000000"/>
                </a:solidFill>
                <a:latin typeface="Arial"/>
              </a:rPr>
              <a:t>sabirnica</a:t>
            </a:r>
            <a:r>
              <a:rPr sz="18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000000"/>
                </a:solidFill>
                <a:latin typeface="Arial"/>
              </a:rPr>
              <a:t>poput</a:t>
            </a:r>
            <a:r>
              <a:rPr sz="18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000000"/>
                </a:solidFill>
                <a:latin typeface="Arial"/>
              </a:rPr>
              <a:t>Kafke</a:t>
            </a:r>
            <a:r>
              <a:rPr sz="1800" b="0" i="0" dirty="0">
                <a:solidFill>
                  <a:srgbClr val="000000"/>
                </a:solidFill>
                <a:latin typeface="Arial"/>
              </a:rPr>
              <a:t>/RabbitMQ za </a:t>
            </a:r>
            <a:r>
              <a:rPr sz="1800" b="0" i="0" dirty="0" err="1">
                <a:solidFill>
                  <a:srgbClr val="000000"/>
                </a:solidFill>
                <a:latin typeface="Arial"/>
              </a:rPr>
              <a:t>horizontalno</a:t>
            </a:r>
            <a:r>
              <a:rPr sz="18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000000"/>
                </a:solidFill>
                <a:latin typeface="Arial"/>
              </a:rPr>
              <a:t>skaliranje</a:t>
            </a:r>
            <a:endParaRPr sz="1800" b="0" i="0" dirty="0">
              <a:solidFill>
                <a:srgbClr val="000000"/>
              </a:solidFill>
              <a:latin typeface="Arial"/>
            </a:endParaRPr>
          </a:p>
          <a:p>
            <a:pPr marL="228600" indent="-228600"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 dirty="0">
                <a:solidFill>
                  <a:srgbClr val="000000"/>
                </a:solidFill>
                <a:latin typeface="Arial"/>
              </a:rPr>
              <a:t>–  </a:t>
            </a:r>
            <a:r>
              <a:rPr sz="1800" b="0" i="0" dirty="0" err="1">
                <a:solidFill>
                  <a:srgbClr val="000000"/>
                </a:solidFill>
                <a:latin typeface="Arial"/>
              </a:rPr>
              <a:t>prelazak</a:t>
            </a:r>
            <a:r>
              <a:rPr sz="18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000000"/>
                </a:solidFill>
                <a:latin typeface="Arial"/>
              </a:rPr>
              <a:t>na</a:t>
            </a:r>
            <a:r>
              <a:rPr sz="1800" b="0" i="0" dirty="0">
                <a:solidFill>
                  <a:srgbClr val="000000"/>
                </a:solidFill>
                <a:latin typeface="Arial"/>
              </a:rPr>
              <a:t> Kubernetes, </a:t>
            </a:r>
            <a:r>
              <a:rPr sz="1800" b="0" i="0" dirty="0" err="1">
                <a:solidFill>
                  <a:srgbClr val="000000"/>
                </a:solidFill>
                <a:latin typeface="Arial"/>
              </a:rPr>
              <a:t>napredne</a:t>
            </a:r>
            <a:r>
              <a:rPr sz="18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000000"/>
                </a:solidFill>
                <a:latin typeface="Arial"/>
              </a:rPr>
              <a:t>mogućnosti</a:t>
            </a:r>
            <a:r>
              <a:rPr sz="1800" b="0" i="0" dirty="0">
                <a:solidFill>
                  <a:srgbClr val="000000"/>
                </a:solidFill>
                <a:latin typeface="Arial"/>
              </a:rPr>
              <a:t> </a:t>
            </a:r>
            <a:r>
              <a:rPr sz="1800" b="0" i="0" dirty="0" err="1">
                <a:solidFill>
                  <a:srgbClr val="000000"/>
                </a:solidFill>
                <a:latin typeface="Arial"/>
              </a:rPr>
              <a:t>TimescaleDB</a:t>
            </a:r>
            <a:r>
              <a:rPr sz="1800" b="0" i="0" dirty="0">
                <a:solidFill>
                  <a:srgbClr val="000000"/>
                </a:solidFill>
                <a:latin typeface="Arial"/>
              </a:rPr>
              <a:t>-a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26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474582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384048"/>
            <a:ext cx="109728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12263A"/>
                </a:solidFill>
                <a:latin typeface="Arial"/>
              </a:rPr>
              <a:t>Zaključak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170432"/>
            <a:ext cx="2011680" cy="54864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524000"/>
            <a:ext cx="10515600" cy="22051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Implementiran prototip pouzdane obrade IoT telemetrije (ESP32 → Mosquitto → servisi → baza)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Ključni doprinos: slojevita strategija pouzdanosti s aplikacijskom deduplikacijom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Nulti gubitak i ispravno suzbijanje duplikata u svih šest scenarija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0" i="0">
                <a:solidFill>
                  <a:srgbClr val="000000"/>
                </a:solidFill>
                <a:latin typeface="Arial"/>
              </a:rPr>
              <a:t>●  Stabilno opterećenje: medijan latencije ispod 20 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19088"/>
            <a:ext cx="1325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200" i="0">
                <a:solidFill>
                  <a:srgbClr val="808080"/>
                </a:solidFill>
                <a:latin typeface="Arial"/>
                <a:cs typeface="Arial"/>
              </a:rPr>
              <a:t>25 / 27</a:t>
            </a:r>
            <a:endParaRPr sz="1200" i="0">
              <a:solidFill>
                <a:srgbClr val="808080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77349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991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5537DD9-4618-4AA3-B7D9-C834BF7BCFF9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19bfd7-cf7e-419e-b3ed-80ecea671e5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319</TotalTime>
  <Words>2433</Words>
  <Application>Microsoft Office PowerPoint</Application>
  <PresentationFormat>Widescreen</PresentationFormat>
  <Paragraphs>360</Paragraphs>
  <Slides>25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Luka Iveković</dc:creator>
  <cp:lastModifiedBy>Luka Iveković</cp:lastModifiedBy>
  <cp:revision>69</cp:revision>
  <dcterms:created xsi:type="dcterms:W3CDTF">2026-07-13T08:11:44Z</dcterms:created>
  <dcterms:modified xsi:type="dcterms:W3CDTF">2026-07-15T23:15:43Z</dcterms:modified>
</cp:coreProperties>
</file>