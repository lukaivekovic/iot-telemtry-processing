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7" r:id="rId2"/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61CA-457A-B9C6-F04F-68BE2458D2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65DF90-F754-CC86-DADA-49A8039F49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27E4DB-72E4-8E09-982B-A87A43B7F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158CA-FA28-ED10-870D-31D5DD0BC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7F5D4-F52D-04BC-3D27-031B2ACF3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635686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F7904-A6B0-956B-148F-077CF325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D782B-88BD-AA5F-B3B0-5B0FF82E2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5164D-C6EE-3680-433C-5EA6FD4D1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1D58A-EDAD-874A-BBC3-0E5CCD7A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F73F77-6C36-D090-F6C5-D4821EA9D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00208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B500-97DC-61B8-9FAC-893EB8FFD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3DC545-1A96-6B01-CC2A-6A642A314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7905E-1934-6F2E-07ED-588D7BADE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61CCD-4FA1-C0BA-7BB4-90CFB80EA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063F1-C7CF-E969-627D-A9F47348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99598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AD348-F60C-CEE3-5923-0CD34A0EB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5BC4D-CA4A-3AC4-46A4-3ABBD0CD9F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C70865-DC8D-44A4-5E9D-D9CD623E7E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7BE8BA-F24C-A046-2EF5-D2109D2F5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087010-D13A-0084-EE6B-EF12CEF73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B4B4D-7749-6D92-916B-8067434AB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490212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B90BC-D8E7-0E3B-78C9-CCC2B4C98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01A5A-533A-6705-76C4-95B91D5C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21E23C-C3C4-768D-4DDA-0F195EC753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010B17-AD40-C6DD-4171-AE26C0D7F6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D47D41-9D83-5C67-FC26-C816A601C0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ABC77C-1675-CF27-38D5-D05AAE1E5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3F23F8-D5A0-7137-9D95-885F2A5A6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7CA02-3915-2337-BCA1-27CE5A80A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30668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6A775-CF10-860E-E946-704325759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7E11E-2127-D6CF-9A63-EAA69DD9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6296A-A605-E372-5FC1-054FD4C4B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A6F53-2385-F46C-EC84-1A37ED1C2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51801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046896-62A0-F899-444F-548D40673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700B70-C264-AAC4-7847-25845CB61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350B3-9BBA-A2FC-E0D1-C04B4AB6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33403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E5C77-EB04-0406-E9D3-8618D6AA6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D62D6-92DF-56B5-7EC9-AA0EDAA32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EBDBA-A474-8F3E-9C26-DEA01B75D9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F3CB7B-65F5-5D4D-B67B-D239404C3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D941E0-94F9-E2A3-1D7D-1AADC505E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9439C2-4F07-82E3-C06A-C5416BCCC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2366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70DAA-CB3E-760D-FC83-B712ACC49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4E717E-4EC4-671A-2940-DEFE350A03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DA645-0F95-D5BA-B0F7-664B6151E5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BE70F-E4A4-C79D-D3DE-357257F02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3A719E-0719-8AD6-0810-0BD595273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62A015-3C2B-8CF3-2403-CC516D0BA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64354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4CAB4-007E-6ED5-E714-0091FBEEA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8DD745-AA50-30C2-55EE-FFD62B3067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08CF0-F116-47F0-1665-CCC0275F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FB2A2-DB7B-C310-56AD-C50016D78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6DD13-18C3-11B9-0BF0-F14758A4F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099901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B47365-5BE8-AD3A-D556-7369F44041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86D0EC-406B-D3C7-FB83-EC4A6E8A1F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1937C-9DFC-DFEF-7BDC-37D4CF62E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CA3D0-8492-E09C-F53F-E0A4B6460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AD933-C57B-A9BC-F43F-9F93F556E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922792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D972E8-7A32-3F0C-998D-13693EA14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DE41D4-9112-C921-9B1E-0BEBE86CA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629F34-C86F-5DF5-6D99-45C98A44EA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4CE93B-3C43-4AC7-9488-B2E578062D1E}" type="datetimeFigureOut">
              <a:rPr lang="hr-HR" smtClean="0"/>
              <a:t>13.7.2026.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A8328-FB23-EBA6-4C51-EDBC1736C6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25521-C0AC-BD66-39B1-A269CB29E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25453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808080"/>
                </a:solidFill>
                <a:latin typeface="Arial"/>
              </a:rPr>
              <a:t>Sveučilište u Zagrebu  ·  Fakultet elektrotehnike i računarstva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 dirty="0" err="1">
                <a:solidFill>
                  <a:srgbClr val="12263A"/>
                </a:solidFill>
                <a:latin typeface="Arial"/>
              </a:rPr>
              <a:t>Pouzdana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obrada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IoT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telemetrije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u mikroservisnoj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arhitekturi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vođenoj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događajima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primjenom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protokola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MQTT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160520"/>
            <a:ext cx="2377440" cy="6400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 i="0" dirty="0" err="1">
                <a:solidFill>
                  <a:srgbClr val="2E86AB"/>
                </a:solidFill>
                <a:latin typeface="Arial"/>
              </a:rPr>
              <a:t>Diplomski</a:t>
            </a:r>
            <a:r>
              <a:rPr sz="2000" b="1" i="0" dirty="0">
                <a:solidFill>
                  <a:srgbClr val="2E86AB"/>
                </a:solidFill>
                <a:latin typeface="Arial"/>
              </a:rPr>
              <a:t> rad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 dirty="0">
                <a:solidFill>
                  <a:srgbClr val="202020"/>
                </a:solidFill>
                <a:latin typeface="Arial"/>
              </a:rPr>
              <a:t>Student: Luka Iveković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 dirty="0">
                <a:solidFill>
                  <a:srgbClr val="202020"/>
                </a:solidFill>
                <a:latin typeface="Arial"/>
              </a:rPr>
              <a:t>Mentor: doc. dr. sc. Slaven Zakošek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08080"/>
                </a:solidFill>
                <a:latin typeface="Arial"/>
              </a:rPr>
              <a:t>Zagreb, srpanj 2026.</a:t>
            </a:r>
          </a:p>
        </p:txBody>
      </p:sp>
    </p:spTree>
    <p:extLst>
      <p:ext uri="{BB962C8B-B14F-4D97-AF65-F5344CB8AC3E}">
        <p14:creationId xmlns:p14="http://schemas.microsoft.com/office/powerpoint/2010/main" val="418497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Sadržaj prezentacije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9601200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1.   Uvod i motivacija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2.   Cilj rada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3.   Arhitektura sustava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4.   Mehanizmi pouzdanosti i deduplikacija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5.   Implementacija: ESP32, mikroservisi, infrastruktura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6.   Testiranje i rezultati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7.   Zaključak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2 / 20</a:t>
            </a:r>
          </a:p>
        </p:txBody>
      </p:sp>
    </p:spTree>
    <p:extLst>
      <p:ext uri="{BB962C8B-B14F-4D97-AF65-F5344CB8AC3E}">
        <p14:creationId xmlns:p14="http://schemas.microsoft.com/office/powerpoint/2010/main" val="284156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Uvod i motivacija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300" b="0" i="0">
                <a:solidFill>
                  <a:srgbClr val="000000"/>
                </a:solidFill>
                <a:latin typeface="Arial"/>
              </a:rPr>
              <a:t>●  Broj IoT uređaja naglo raste: preko 18 milijardi (2024.), ~30 milijardi do kraja desetljeća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300" b="0" i="0">
                <a:solidFill>
                  <a:srgbClr val="000000"/>
                </a:solidFill>
                <a:latin typeface="Arial"/>
              </a:rPr>
              <a:t>●  Senzori kontinuirano šalju telemetriju poslužiteljskoj strani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300" b="0" i="0">
                <a:solidFill>
                  <a:srgbClr val="000000"/>
                </a:solidFill>
                <a:latin typeface="Arial"/>
              </a:rPr>
              <a:t>●  Klasični HTTP model pokazuje ograničenja: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>
                <a:solidFill>
                  <a:srgbClr val="202020"/>
                </a:solidFill>
                <a:latin typeface="Arial"/>
              </a:rPr>
              <a:t>–  TCP sesija po svakom mjerenju (suvišan režijski trošak)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>
                <a:solidFill>
                  <a:srgbClr val="202020"/>
                </a:solidFill>
                <a:latin typeface="Arial"/>
              </a:rPr>
              <a:t>–  sinkroni zahtjevi loše podnose prekide mreže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>
                <a:solidFill>
                  <a:srgbClr val="202020"/>
                </a:solidFill>
                <a:latin typeface="Arial"/>
              </a:rPr>
              <a:t>–  tijesna sprega proizvođača i potrošača otežava skaliranje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300" b="0" i="0">
                <a:solidFill>
                  <a:srgbClr val="000000"/>
                </a:solidFill>
                <a:latin typeface="Arial"/>
              </a:rPr>
              <a:t>●  Rješenje: MQTT + arhitektura vođena događajima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300" b="0" i="0">
                <a:solidFill>
                  <a:srgbClr val="000000"/>
                </a:solidFill>
                <a:latin typeface="Arial"/>
              </a:rPr>
              <a:t>●  Ključni izazov: pouzdana dostava bez gubitka i bez dvostruke obrade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3 / 20</a:t>
            </a:r>
          </a:p>
        </p:txBody>
      </p:sp>
    </p:spTree>
    <p:extLst>
      <p:ext uri="{BB962C8B-B14F-4D97-AF65-F5344CB8AC3E}">
        <p14:creationId xmlns:p14="http://schemas.microsoft.com/office/powerpoint/2010/main" val="85750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MQTT i razine kvalitete usluge (QoS)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03504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Lagani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protokol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objavi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-pretplati (ISO/IEC 20922)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Posrednik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(broker)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razdvaja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proizvođače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potrošače</a:t>
            </a:r>
            <a:endParaRPr sz="21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Hijerarhijske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teme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,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npr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. telemetry/esp32-001/temperature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QoS 0: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najviše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jednom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(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moguć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gubitak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QoS 1: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barem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jednom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(bez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gubitka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,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mogući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duplikati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QoS 2: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točno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jednom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(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najveći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režijski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trošak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Odabir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: QoS 1 +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deduplikacija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na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aplikacijskom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sloju</a:t>
            </a:r>
            <a:endParaRPr sz="2100" b="0" i="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" name="Picture 4" descr="raw_p1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009547"/>
            <a:ext cx="4846320" cy="3113225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040880" y="56235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808080"/>
                </a:solidFill>
                <a:latin typeface="Arial"/>
              </a:rPr>
              <a:t>QoS 1: PUBLISH / PUBACK i retransmisija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4 / 20</a:t>
            </a:r>
          </a:p>
        </p:txBody>
      </p:sp>
    </p:spTree>
    <p:extLst>
      <p:ext uri="{BB962C8B-B14F-4D97-AF65-F5344CB8AC3E}">
        <p14:creationId xmlns:p14="http://schemas.microsoft.com/office/powerpoint/2010/main" val="3761976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Cilj rada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4241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●  Prototip sustava za pouzdanu obradu IoT telemetrije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●  Slojevita strategija pouzdanosti: uređaj → posrednik → servis → baza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●  Idempotentna obrada: nijedna poruka izgubljena niti obrađena dvaput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●  Predvidljiva latencija pod realnim opterećenjem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●  Eksperimentalna potvrda kroz šest scenarija (T1 do T6)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5 / 20</a:t>
            </a:r>
          </a:p>
        </p:txBody>
      </p:sp>
    </p:spTree>
    <p:extLst>
      <p:ext uri="{BB962C8B-B14F-4D97-AF65-F5344CB8AC3E}">
        <p14:creationId xmlns:p14="http://schemas.microsoft.com/office/powerpoint/2010/main" val="1912759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Arhitektura sustava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512064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2 × ESP32 + DHT11 (percepcijski sloj)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Posrednik Eclipse Mosquitto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2 mikroservisa (Spring Boot):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0" i="0">
                <a:solidFill>
                  <a:srgbClr val="202020"/>
                </a:solidFill>
                <a:latin typeface="Arial"/>
              </a:rPr>
              <a:t>–  servis za unos telemetrije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0" i="0">
                <a:solidFill>
                  <a:srgbClr val="202020"/>
                </a:solidFill>
                <a:latin typeface="Arial"/>
              </a:rPr>
              <a:t>–  servis za upozorenja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Redis: brza deduplikacija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PostgreSQL + TimescaleDB: trajna pohrana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Oba servisa pretplaćena na telemetry/# (paralelna obrada)</a:t>
            </a:r>
          </a:p>
        </p:txBody>
      </p:sp>
      <p:pic>
        <p:nvPicPr>
          <p:cNvPr id="5" name="Picture 4" descr="raw_p17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968" y="1463040"/>
            <a:ext cx="5635742" cy="4480560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26480" y="594360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808080"/>
                </a:solidFill>
                <a:latin typeface="Arial"/>
              </a:rPr>
              <a:t>Sl. 2.1  Arhitektura sustava na visokoj razini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6 / 20</a:t>
            </a:r>
          </a:p>
        </p:txBody>
      </p:sp>
    </p:spTree>
    <p:extLst>
      <p:ext uri="{BB962C8B-B14F-4D97-AF65-F5344CB8AC3E}">
        <p14:creationId xmlns:p14="http://schemas.microsoft.com/office/powerpoint/2010/main" val="1387018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Tijek obrade poruke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548640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ESP32: očita senzor, generira msg_id, objavi (QoS 1)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Mosquitto: PUBACK i isporuka pretplatnicima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Servis za unos: provjera duplikata → upis u bazu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Redis oznaka tek nakon uspješnog upisa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Ručna potvrda posredniku tek po dovršenoj obradi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Servis za upozorenja: vrednovanje pravila + webhook</a:t>
            </a:r>
          </a:p>
        </p:txBody>
      </p:sp>
      <p:pic>
        <p:nvPicPr>
          <p:cNvPr id="5" name="Picture 4" descr="raw_p19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405198"/>
            <a:ext cx="5394960" cy="2504802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92240" y="576072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808080"/>
                </a:solidFill>
                <a:latin typeface="Arial"/>
              </a:rPr>
              <a:t>Sl. 2.2  Životni ciklus poruke od uređaja do pohrane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7 / 20</a:t>
            </a:r>
          </a:p>
        </p:txBody>
      </p:sp>
    </p:spTree>
    <p:extLst>
      <p:ext uri="{BB962C8B-B14F-4D97-AF65-F5344CB8AC3E}">
        <p14:creationId xmlns:p14="http://schemas.microsoft.com/office/powerpoint/2010/main" val="811905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Deduplikacija i idempotentnost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Jedinstveni msg_id = {device_id}-{epoch_ms}-{counter}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Provjera u Redisu: EXISTS, složenost O(1), &lt; 1 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Poznat identifikator → poruka se odbacuje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Novi identifikator → upis u bazu, zatim SET EX 3600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TTL 3600 s pokriva sve realne prozore retransmisije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Odvojeni prostori ključeva: dedup:ingestion / dedup:alerting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Jednonitni potrošač uklanja TOCTOU bez zaključavanja</a:t>
            </a:r>
          </a:p>
        </p:txBody>
      </p:sp>
      <p:pic>
        <p:nvPicPr>
          <p:cNvPr id="5" name="Picture 4" descr="raw_p2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694" y="1463040"/>
            <a:ext cx="2616771" cy="4572000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680960" y="59893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808080"/>
                </a:solidFill>
                <a:latin typeface="Arial"/>
              </a:rPr>
              <a:t>Sl. 2.3  Tok odluke pri deduplikaciji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8 / 20</a:t>
            </a:r>
          </a:p>
        </p:txBody>
      </p:sp>
    </p:spTree>
    <p:extLst>
      <p:ext uri="{BB962C8B-B14F-4D97-AF65-F5344CB8AC3E}">
        <p14:creationId xmlns:p14="http://schemas.microsoft.com/office/powerpoint/2010/main" val="2819454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Slojevi pouzdanosti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 i="0">
                <a:solidFill>
                  <a:srgbClr val="202020"/>
                </a:solidFill>
                <a:latin typeface="Arial"/>
              </a:rPr>
              <a:t>Pouzdanost ne počiva na jednom mehanizmu, nego na komplementarnim slojevima: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2606040" cy="3108960"/>
          </a:xfrm>
          <a:prstGeom prst="roundRect">
            <a:avLst/>
          </a:prstGeom>
          <a:solidFill>
            <a:srgbClr val="2E86AB"/>
          </a:solidFill>
          <a:ln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rtlCol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Uređaj  ESP32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Kružni međuspremnik (outbox)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Neblokirajuće ponovno spajanje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Blokirajuće početno spajanje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148840"/>
            <a:ext cx="2606040" cy="3108960"/>
          </a:xfrm>
          <a:prstGeom prst="roundRect">
            <a:avLst/>
          </a:prstGeom>
          <a:solidFill>
            <a:srgbClr val="12263A"/>
          </a:solidFill>
          <a:ln>
            <a:solidFill>
              <a:srgbClr val="122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rtlCol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Posrednik  Mosquitto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Perzistentna sesija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   (cleanSession=false)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Perzistencija na disk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Veliki red poruka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148840"/>
            <a:ext cx="2606040" cy="3108960"/>
          </a:xfrm>
          <a:prstGeom prst="roundRect">
            <a:avLst/>
          </a:prstGeom>
          <a:solidFill>
            <a:srgbClr val="2E86AB"/>
          </a:solidFill>
          <a:ln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rtlCol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Servis  Spring Boot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Ručno potvrđivanje primitka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Datotečna perzistencija Paho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Obnova pretplate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   (connectComplete)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2148840"/>
            <a:ext cx="2606040" cy="3108960"/>
          </a:xfrm>
          <a:prstGeom prst="roundRect">
            <a:avLst/>
          </a:prstGeom>
          <a:solidFill>
            <a:srgbClr val="12263A"/>
          </a:solidFill>
          <a:ln>
            <a:solidFill>
              <a:srgbClr val="122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rtlCol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Aplikacijski sloj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QoS 1 (barem jednom)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Redis deduplikacija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● Jedinstveni msg_id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→ pohrana točno jednom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2E8B57"/>
                </a:solidFill>
                <a:latin typeface="Arial"/>
              </a:rPr>
              <a:t>Rezultat: nulti gubitak poruka i idempotentna obrada u svim scenarijima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9 / 20</a:t>
            </a:r>
          </a:p>
        </p:txBody>
      </p:sp>
    </p:spTree>
    <p:extLst>
      <p:ext uri="{BB962C8B-B14F-4D97-AF65-F5344CB8AC3E}">
        <p14:creationId xmlns:p14="http://schemas.microsoft.com/office/powerpoint/2010/main" val="3242699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Ugrađeni program uređaja ESP32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548640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C++ / Arduino, alat PlatformIO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DHT11 na GPIO 4, prekidač GPIO 27, LED GPIO 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Objava svakih 5 s, razina QoS 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NTP sinkronizacija za točan timestamp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msg_id generiran po svakoj objavi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Outbox: kružni spremnik (256 unosa, drop-oldest)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Neblokirajuće ponovno spajanje na Wi-Fi i posrednika</a:t>
            </a:r>
          </a:p>
        </p:txBody>
      </p:sp>
      <p:pic>
        <p:nvPicPr>
          <p:cNvPr id="5" name="Picture 4" descr="raw_p25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422" y="1554480"/>
            <a:ext cx="5219154" cy="4206240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0" y="58064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808080"/>
                </a:solidFill>
                <a:latin typeface="Arial"/>
              </a:rPr>
              <a:t>Sl. 3.1  Spoj ESP32, DHT11 i prekidača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10 / 20</a:t>
            </a:r>
          </a:p>
        </p:txBody>
      </p:sp>
    </p:spTree>
    <p:extLst>
      <p:ext uri="{BB962C8B-B14F-4D97-AF65-F5344CB8AC3E}">
        <p14:creationId xmlns:p14="http://schemas.microsoft.com/office/powerpoint/2010/main" val="34056907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Implementacija mikroservisa (Spring Boot)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585216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Java 17, Spring Boot 3.2.5, Paho MQTT klijent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Zajednička osnova, razdvojene odgovornosti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Servis za unos: deduplikacija + pohrana očitanja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Servis za upozorenja: pravila + webhook obavijesti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Deduplikacija: Redis (hasKey / set EX)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Ručna potvrda tek nakon uspješne obrade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Razine ozbiljnosti: WARNING i CRITICAL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691640"/>
            <a:ext cx="4937760" cy="3566160"/>
          </a:xfrm>
          <a:prstGeom prst="round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09728" rtlCol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6A9955"/>
                </a:solidFill>
                <a:latin typeface="Consolas"/>
              </a:rPr>
              <a:t>// obrada poruke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69CD6"/>
                </a:solidFill>
                <a:latin typeface="Consolas"/>
              </a:rPr>
              <a:t>if (dedup.isDuplicate(id))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E9178"/>
                </a:solidFill>
                <a:latin typeface="Consolas"/>
              </a:rPr>
              <a:t>    return true;  // odbaci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D4D4D4"/>
                </a:solidFill>
                <a:latin typeface="Consolas"/>
              </a:rPr>
              <a:t>repo.save(reading);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D4D4D4"/>
                </a:solidFill>
                <a:latin typeface="Consolas"/>
              </a:rPr>
              <a:t>dedup.markProcessed(id);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4EC9B0"/>
                </a:solidFill>
                <a:latin typeface="Consolas"/>
              </a:rPr>
              <a:t>ack(message);  // ručna potvrda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534924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808080"/>
                </a:solidFill>
                <a:latin typeface="Arial"/>
              </a:rPr>
              <a:t>Redoslijed: upis u bazu → oznaka u Redis → potvrda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11 / 20</a:t>
            </a:r>
          </a:p>
        </p:txBody>
      </p:sp>
    </p:spTree>
    <p:extLst>
      <p:ext uri="{BB962C8B-B14F-4D97-AF65-F5344CB8AC3E}">
        <p14:creationId xmlns:p14="http://schemas.microsoft.com/office/powerpoint/2010/main" val="1393292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Perzistencija: PostgreSQL + TimescaleDB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4241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Relacijska baza PostgreSQL proširena ekstenzijom TimescaleDB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Tablice telemetry_readings i alert_events pretvorene u hipertablice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Automatsko particioniranje po vremenu (received_at / created_at)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Flyway migracije pri pokretanju svakog servisa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msg_id: nejedinstveni indeks (ograničenje hipertablica)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Latencija = received_at − timestamp (temeljna mjera u eksperimentima)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12 / 20</a:t>
            </a:r>
          </a:p>
        </p:txBody>
      </p:sp>
    </p:spTree>
    <p:extLst>
      <p:ext uri="{BB962C8B-B14F-4D97-AF65-F5344CB8AC3E}">
        <p14:creationId xmlns:p14="http://schemas.microsoft.com/office/powerpoint/2010/main" val="2714732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Infrastruktura i pokretanje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548640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Docker Compose: 6 servisa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202020"/>
                </a:solidFill>
                <a:latin typeface="Arial"/>
              </a:rPr>
              <a:t>–  mosquitto, redis, postgres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202020"/>
                </a:solidFill>
                <a:latin typeface="Arial"/>
              </a:rPr>
              <a:t>–  ingestion, alerting, webhook-mock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Jedna naredba: docker compose up --build -d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depends_on + healthcheck (ispravan redoslijed)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Višefazni Dockerfile (manja, sigurnija slika)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Deterministički i ponovljiv razvoj</a:t>
            </a:r>
          </a:p>
        </p:txBody>
      </p:sp>
      <p:pic>
        <p:nvPicPr>
          <p:cNvPr id="5" name="Picture 4" descr="raw_p2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00843"/>
            <a:ext cx="5394960" cy="2713512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0" y="566928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808080"/>
                </a:solidFill>
                <a:latin typeface="Arial"/>
              </a:rPr>
              <a:t>Sl. 2.4  Topologija servisa u okruženju Docker Compose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13 / 20</a:t>
            </a:r>
          </a:p>
        </p:txBody>
      </p:sp>
    </p:spTree>
    <p:extLst>
      <p:ext uri="{BB962C8B-B14F-4D97-AF65-F5344CB8AC3E}">
        <p14:creationId xmlns:p14="http://schemas.microsoft.com/office/powerpoint/2010/main" val="3512784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Metodologija testiranja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4846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Generator opterećenja u Pythonu (paho-mqtt), N virtualnih uređaja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Isti oblik msg_id kao stvarni ESP32 (servisi ih obrađuju istovjetno)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Mjere performansi: protok, latencija (P50 / P95 / P99)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Mjere pouzdanosti: gubitak, duplikati, nadoknada nakon kvara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Gubitak (%) = (poslano − jedinstveno pohranjeno) / poslano × 100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Svaki scenarij iz čistog stanja (TRUNCATE + FLUSHDB), mjere iz SQL upita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Šest scenarija: T1 do T6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14 / 20</a:t>
            </a:r>
          </a:p>
        </p:txBody>
      </p:sp>
    </p:spTree>
    <p:extLst>
      <p:ext uri="{BB962C8B-B14F-4D97-AF65-F5344CB8AC3E}">
        <p14:creationId xmlns:p14="http://schemas.microsoft.com/office/powerpoint/2010/main" val="1605815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Rezultati: stabilno opterećenje (T1) i QoS (T2)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2263A"/>
                </a:solidFill>
                <a:latin typeface="Arial"/>
              </a:rPr>
              <a:t>T1  ·  stabilno opterećenje (~20 msg/s, prosjek 3 pokretanja)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6035039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0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00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Mjera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Vrijednost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Arial"/>
                        </a:rPr>
                        <a:t>Objavljeno / pohranjeno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2400 / 2400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Arial"/>
                        </a:rPr>
                        <a:t>Gubitak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0,0 %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Arial"/>
                        </a:rPr>
                        <a:t>P50 latencija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16,6 ms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Arial"/>
                        </a:rPr>
                        <a:t>P95 / P99 latencija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29,0 / 35,5 ms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Arial"/>
                        </a:rPr>
                        <a:t>Protok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20,1 msg/s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074920"/>
            <a:ext cx="60350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02020"/>
                </a:solidFill>
                <a:latin typeface="Arial"/>
              </a:rPr>
              <a:t>Nulti gubitak, medijan ispod 20 ms, stabilna i zanemariva režija deduplikacije.</a:t>
            </a:r>
          </a:p>
        </p:txBody>
      </p:sp>
      <p:pic>
        <p:nvPicPr>
          <p:cNvPr id="7" name="Picture 6" descr="chart_q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978429"/>
            <a:ext cx="4846320" cy="30840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544068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808080"/>
                </a:solidFill>
                <a:latin typeface="Arial"/>
              </a:rPr>
              <a:t>Sl. 6.1  T2: QoS 0 nasuprot QoS 1/2 (nedostupan potrošač)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15 / 20</a:t>
            </a:r>
          </a:p>
        </p:txBody>
      </p:sp>
    </p:spTree>
    <p:extLst>
      <p:ext uri="{BB962C8B-B14F-4D97-AF65-F5344CB8AC3E}">
        <p14:creationId xmlns:p14="http://schemas.microsoft.com/office/powerpoint/2010/main" val="1426509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Rezultati: duplikati (T3) i kvar posrednika (T4)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2263A"/>
                </a:solidFill>
                <a:latin typeface="Arial"/>
              </a:rPr>
              <a:t>T3  ·  obrada duplikata (ista poruka 5×)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5212079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798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1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Mjera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Oček.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Izmj.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Arial"/>
                        </a:rPr>
                        <a:t>Pohranjenih redaka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Arial"/>
                        </a:rPr>
                        <a:t>Odbačenih duplikata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14173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2263A"/>
                </a:solidFill>
                <a:latin typeface="Arial"/>
              </a:rPr>
              <a:t>T4  ·  kvar posrednika (outbox uređaja)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09360" y="1828800"/>
          <a:ext cx="5120640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82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Varijanta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Prekid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Gubitak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Arial"/>
                        </a:rPr>
                        <a:t>Ispod kapaciteta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300 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0,0 %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Arial"/>
                        </a:rPr>
                        <a:t>Iznad kapaciteta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900 s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/>
                        </a:rPr>
                        <a:t>28,1 %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T3: prva poruka pohranjena, četiri ponovljene isporuke odbačene (idempotentnost potvrđena)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T4: pri kraćem prekidu nulti gubitak (očitanja u međuspremniku, reprodukcija pri spajanju)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T4: pri duljem prekidu spremnik se popuni, odbacuje najstarije (predvidljiv gubitak 28,1 %)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Uređaj degradira kontrolirano umjesto rušenja ili nekontroliranog rasta memorije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16 / 20</a:t>
            </a:r>
          </a:p>
        </p:txBody>
      </p:sp>
    </p:spTree>
    <p:extLst>
      <p:ext uri="{BB962C8B-B14F-4D97-AF65-F5344CB8AC3E}">
        <p14:creationId xmlns:p14="http://schemas.microsoft.com/office/powerpoint/2010/main" val="5590997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Rezultati: kvar servisa (T5) i opterećenje (T6)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2263A"/>
                </a:solidFill>
                <a:latin typeface="Arial"/>
              </a:rPr>
              <a:t>T5  ·  kvar servisa za unos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521208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Mjera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Vrijednost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Objavljeno / pohranjeno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Arial"/>
                        </a:rPr>
                        <a:t>360 / 360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Gubitak / duplikati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Arial"/>
                        </a:rPr>
                        <a:t>0 % / 0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Vrijeme nadoknade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Arial"/>
                        </a:rPr>
                        <a:t>3,2 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14173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2263A"/>
                </a:solidFill>
                <a:latin typeface="Arial"/>
              </a:rPr>
              <a:t>T6  ·  deduplikacija pod opterećenjem (~385 msg/s)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09360" y="1828800"/>
          <a:ext cx="5120639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844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6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Mjera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Vrijednost</a:t>
                      </a:r>
                    </a:p>
                  </a:txBody>
                  <a:tcPr marL="73152" marR="54864" marT="18288" marB="18288" anchor="ctr"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Objavljeno / pohranjeno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Arial"/>
                        </a:rPr>
                        <a:t>23566 / 23566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Gubitak / duplikati u bazi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Arial"/>
                        </a:rPr>
                        <a:t>0 % / 0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Redis zauzeće (47132 ključa)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Arial"/>
                        </a:rPr>
                        <a:t>6,67 MB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3611880"/>
            <a:ext cx="106070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T5: sve poruke iz nedostupnosti isporučene i pohranjene, bez gubitka i duplikata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Posrednik čuva poruke za trajnog pretplatnika (cleanSession=false + perzistencija)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T6: nulti gubitak i nula duplikata i pri dvostrukom preopterećenju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Sustav trampi latenciju za trajnost (protupritisak), umjesto odbacivanja podataka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17 / 20</a:t>
            </a:r>
          </a:p>
        </p:txBody>
      </p:sp>
    </p:spTree>
    <p:extLst>
      <p:ext uri="{BB962C8B-B14F-4D97-AF65-F5344CB8AC3E}">
        <p14:creationId xmlns:p14="http://schemas.microsoft.com/office/powerpoint/2010/main" val="34647064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Analiza rezultata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554480"/>
            <a:ext cx="2514600" cy="1371600"/>
          </a:xfrm>
          <a:prstGeom prst="roundRect">
            <a:avLst/>
          </a:prstGeom>
          <a:solidFill>
            <a:srgbClr val="EEF3F6"/>
          </a:solidFill>
          <a:ln w="12700">
            <a:solidFill>
              <a:srgbClr val="D5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E8B57"/>
                </a:solidFill>
                <a:latin typeface="Arial"/>
              </a:rPr>
              <a:t>0 %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2020"/>
                </a:solidFill>
                <a:latin typeface="Arial"/>
              </a:rPr>
              <a:t>gubitak poruka
(svi scenariji)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554480"/>
            <a:ext cx="2514600" cy="1371600"/>
          </a:xfrm>
          <a:prstGeom prst="roundRect">
            <a:avLst/>
          </a:prstGeom>
          <a:solidFill>
            <a:srgbClr val="EEF3F6"/>
          </a:solidFill>
          <a:ln w="12700">
            <a:solidFill>
              <a:srgbClr val="D5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E8B57"/>
                </a:solidFill>
                <a:latin typeface="Arial"/>
              </a:rPr>
              <a:t>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2020"/>
                </a:solidFill>
                <a:latin typeface="Arial"/>
              </a:rPr>
              <a:t>duplikata u bazi
(T3, T6)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60" y="1554480"/>
            <a:ext cx="2514600" cy="1371600"/>
          </a:xfrm>
          <a:prstGeom prst="roundRect">
            <a:avLst/>
          </a:prstGeom>
          <a:solidFill>
            <a:srgbClr val="EEF3F6"/>
          </a:solidFill>
          <a:ln w="12700">
            <a:solidFill>
              <a:srgbClr val="D5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E86AB"/>
                </a:solidFill>
                <a:latin typeface="Arial"/>
              </a:rPr>
              <a:t>16,6 ms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2020"/>
                </a:solidFill>
                <a:latin typeface="Arial"/>
              </a:rPr>
              <a:t>medijan latencije
(T1)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32520" y="1554480"/>
            <a:ext cx="2651760" cy="1371600"/>
          </a:xfrm>
          <a:prstGeom prst="roundRect">
            <a:avLst/>
          </a:prstGeom>
          <a:solidFill>
            <a:srgbClr val="EEF3F6"/>
          </a:solidFill>
          <a:ln w="12700">
            <a:solidFill>
              <a:srgbClr val="D5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E86AB"/>
                </a:solidFill>
                <a:latin typeface="Arial"/>
              </a:rPr>
              <a:t>3,2 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2020"/>
                </a:solidFill>
                <a:latin typeface="Arial"/>
              </a:rPr>
              <a:t>vrijeme nadoknade
(T5)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37560"/>
            <a:ext cx="1060704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Potvrđena glavna teza: QoS 1 + deduplikacija + perzistentna sesija → nulti gubitak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Ispravnost deduplikacije potvrđena izravno (T3) i pod opterećenjem (T6)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Pri praćenju opterećenja: P50 &lt; 20 ms, P99 &lt; 100 ms (Redis i baza nisu usko grlo)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Pri preopterećenju/kvaru: postupna degradacija uz nulti gubitak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Rubni slučajevi (reset brojača, prozor upis–oznaka) zanemarivi u praksi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18 / 20</a:t>
            </a:r>
          </a:p>
        </p:txBody>
      </p:sp>
    </p:spTree>
    <p:extLst>
      <p:ext uri="{BB962C8B-B14F-4D97-AF65-F5344CB8AC3E}">
        <p14:creationId xmlns:p14="http://schemas.microsoft.com/office/powerpoint/2010/main" val="1267196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Zaključak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Implementiran prototip pouzdane obrade IoT telemetrije (ESP32 → Mosquitto → servisi → baza)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Ključni doprinos: slojevita strategija pouzdanosti s aplikacijskom deduplikacijom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Nulti gubitak i ispravno suzbijanje duplikata u svih šest scenarija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Stabilno opterećenje: medijan latencije ispod 20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177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63A"/>
                </a:solidFill>
                <a:latin typeface="Arial"/>
              </a:rPr>
              <a:t>Smjerovi nadogradnje: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202020"/>
                </a:solidFill>
                <a:latin typeface="Arial"/>
              </a:rPr>
              <a:t>–  TLS i provjera autentičnosti na posredniku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202020"/>
                </a:solidFill>
                <a:latin typeface="Arial"/>
              </a:rPr>
              <a:t>–  sabirnica poput Kafke/RabbitMQ za horizontalno skaliranje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202020"/>
                </a:solidFill>
                <a:latin typeface="Arial"/>
              </a:rPr>
              <a:t>–  prelazak na Kubernetes, napredne mogućnosti TimescaleDB-a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19 / 20</a:t>
            </a:r>
          </a:p>
        </p:txBody>
      </p:sp>
    </p:spTree>
    <p:extLst>
      <p:ext uri="{BB962C8B-B14F-4D97-AF65-F5344CB8AC3E}">
        <p14:creationId xmlns:p14="http://schemas.microsoft.com/office/powerpoint/2010/main" val="1878416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4400" b="1" i="0">
                <a:solidFill>
                  <a:srgbClr val="12263A"/>
                </a:solidFill>
                <a:latin typeface="Arial"/>
              </a:rPr>
              <a:t>Hvala na pažnji!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327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400" b="0" i="0">
                <a:solidFill>
                  <a:srgbClr val="2E86AB"/>
                </a:solidFill>
                <a:latin typeface="Arial"/>
              </a:rPr>
              <a:t>Pitanja i rasprava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08080"/>
                </a:solidFill>
                <a:latin typeface="Arial"/>
              </a:rPr>
              <a:t>20 / 20</a:t>
            </a:r>
          </a:p>
        </p:txBody>
      </p:sp>
    </p:spTree>
    <p:extLst>
      <p:ext uri="{BB962C8B-B14F-4D97-AF65-F5344CB8AC3E}">
        <p14:creationId xmlns:p14="http://schemas.microsoft.com/office/powerpoint/2010/main" val="1855768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63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5537DD9-4618-4AA3-B7D9-C834BF7BCFF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19bfd7-cf7e-419e-b3ed-80ecea671e5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1611</Words>
  <Application>Microsoft Office PowerPoint</Application>
  <PresentationFormat>Widescreen</PresentationFormat>
  <Paragraphs>244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Luka Iveković</dc:creator>
  <cp:lastModifiedBy>Luka Iveković</cp:lastModifiedBy>
  <cp:revision>6</cp:revision>
  <dcterms:created xsi:type="dcterms:W3CDTF">2026-07-13T08:11:44Z</dcterms:created>
  <dcterms:modified xsi:type="dcterms:W3CDTF">2026-07-13T09:15:59Z</dcterms:modified>
</cp:coreProperties>
</file>