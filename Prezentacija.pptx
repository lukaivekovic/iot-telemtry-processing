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97" r:id="rId2"/>
    <p:sldId id="298" r:id="rId3"/>
    <p:sldId id="278" r:id="rId4"/>
    <p:sldId id="279" r:id="rId5"/>
    <p:sldId id="280" r:id="rId6"/>
    <p:sldId id="320" r:id="rId7"/>
    <p:sldId id="323" r:id="rId8"/>
    <p:sldId id="283" r:id="rId9"/>
    <p:sldId id="324" r:id="rId10"/>
    <p:sldId id="325" r:id="rId11"/>
    <p:sldId id="326" r:id="rId12"/>
    <p:sldId id="328" r:id="rId13"/>
    <p:sldId id="289" r:id="rId14"/>
    <p:sldId id="330" r:id="rId15"/>
    <p:sldId id="331" r:id="rId16"/>
    <p:sldId id="332" r:id="rId17"/>
    <p:sldId id="316" r:id="rId18"/>
    <p:sldId id="319" r:id="rId19"/>
    <p:sldId id="31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1585" autoAdjust="0"/>
  </p:normalViewPr>
  <p:slideViewPr>
    <p:cSldViewPr snapToGrid="0">
      <p:cViewPr varScale="1">
        <p:scale>
          <a:sx n="114" d="100"/>
          <a:sy n="114" d="100"/>
        </p:scale>
        <p:origin x="20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A5BAA-F06D-4D11-9D15-98F054BD7EB7}" type="datetimeFigureOut">
              <a:rPr lang="hr-HR" smtClean="0"/>
              <a:t>16.7.2026.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568B23-BB8D-422C-86A5-F436D5A6145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21221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3217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Ukratko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tijeku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izlaganja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počinjem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motivacijom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protokolom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MQTT, 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zatim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iznosim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cilj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rada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arhitekturu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sustava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mehanizme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pouzdanosti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deduplikacije. 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Slijedi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implementacija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težište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testiranju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rezultatima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kroz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kraju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analiziram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zaključujem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85465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uređaja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Interneta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stvari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naglo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raste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premašuje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18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milijardi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a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kraja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desetljeća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procjenjuje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milijardi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buFontTx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senzori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neprekidno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šalju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telemetriju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poslužiteljskoj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buFontTx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Klasičan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pristup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uređaj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mjerenje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šalje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HTTP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zahtjevom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pokazuje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ograničenja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mjerenje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otvara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nova TCP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sesija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suvišan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režijski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trošak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zahtjevi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sinkroni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loše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podnose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prekide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mreže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proizvođač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potrošač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podataka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tijesno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spregnuti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otežava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skaliranje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okrećem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protokolu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MQTT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arhitekturi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vođenoj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događajima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Ključni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izazov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kojim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rad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bavi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jest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osigurati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pouzdanu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dostavu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da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nijedno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mjerenje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izgubljeno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obrađeno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dvaput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41887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MQTT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lagani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protokol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načelu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objavi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-pretplati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sredini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posrednik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koji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razdvaja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proizvođače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potrošača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 oni ne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moraju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znati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druge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objavljuju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hijerarhijske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primjerice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telemetry/esp32-001/temperature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MQTT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razine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kvalitete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usluge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QoS 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znači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„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najviše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dopušta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gubitak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QoS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znači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„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osigurava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mogući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duplikati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QoS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jamči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„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točno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najveći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režijski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trošak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odabrao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QoS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duplikate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rješavam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deduplikacijom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aplikacijskom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sloju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dobivam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jamstvo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bez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nižu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cijenu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QoS-a 2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79760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Cilj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rada bio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izgraditi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prototip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sustava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pouzdanu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obradu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IoT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telemetrije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Ključna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slojevita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pouzdanosti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od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uređaja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posrednika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baze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nijedan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pojedini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cijeli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teret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Sustav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idempotentan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dakle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nijedna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izgubljena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obrađena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dvaput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predvidljivu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latenciju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realnim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opterećenjem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eksperimentalno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potvrđujem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kroz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od T1 do T6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94477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Ovo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arhitektura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visokoj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razini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organizirana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tri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sloja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dirty="0"/>
              <a:t>Percepcijski </a:t>
            </a:r>
            <a:r>
              <a:rPr lang="en-US" dirty="0" err="1"/>
              <a:t>sloj</a:t>
            </a:r>
            <a:r>
              <a:rPr lang="en-US" dirty="0"/>
              <a:t> cine esp32 </a:t>
            </a:r>
            <a:r>
              <a:rPr lang="en-US" dirty="0" err="1"/>
              <a:t>uredaji</a:t>
            </a:r>
            <a:r>
              <a:rPr lang="en-US" dirty="0"/>
              <a:t> s </a:t>
            </a:r>
            <a:r>
              <a:rPr lang="en-US" dirty="0" err="1"/>
              <a:t>pridruzenim</a:t>
            </a:r>
            <a:r>
              <a:rPr lang="en-US" dirty="0"/>
              <a:t> DHT11 </a:t>
            </a:r>
            <a:r>
              <a:rPr lang="en-US" dirty="0" err="1"/>
              <a:t>senzorima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Mrezni</a:t>
            </a:r>
            <a:r>
              <a:rPr lang="en-US" dirty="0"/>
              <a:t> </a:t>
            </a:r>
            <a:r>
              <a:rPr lang="en-US" dirty="0" err="1"/>
              <a:t>sloj</a:t>
            </a:r>
            <a:r>
              <a:rPr lang="en-US" dirty="0"/>
              <a:t> </a:t>
            </a:r>
            <a:r>
              <a:rPr lang="en-US" dirty="0" err="1"/>
              <a:t>cini</a:t>
            </a:r>
            <a:r>
              <a:rPr lang="en-US" dirty="0"/>
              <a:t> </a:t>
            </a:r>
            <a:r>
              <a:rPr lang="en-US" dirty="0" err="1"/>
              <a:t>posrednik</a:t>
            </a:r>
            <a:r>
              <a:rPr lang="en-US" dirty="0"/>
              <a:t> Eclipse </a:t>
            </a:r>
            <a:r>
              <a:rPr lang="en-US" dirty="0" err="1"/>
              <a:t>Mosquitto</a:t>
            </a:r>
            <a:r>
              <a:rPr lang="en-US" dirty="0"/>
              <a:t> koji prima </a:t>
            </a:r>
            <a:r>
              <a:rPr lang="en-US" dirty="0" err="1"/>
              <a:t>objave</a:t>
            </a:r>
            <a:r>
              <a:rPr lang="en-US" dirty="0"/>
              <a:t> </a:t>
            </a:r>
            <a:r>
              <a:rPr lang="en-US" dirty="0" err="1"/>
              <a:t>poruka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prosljeduje</a:t>
            </a:r>
            <a:r>
              <a:rPr lang="en-US" dirty="0"/>
              <a:t> </a:t>
            </a:r>
            <a:r>
              <a:rPr lang="en-US" dirty="0" err="1"/>
              <a:t>ih</a:t>
            </a:r>
            <a:r>
              <a:rPr lang="en-US" dirty="0"/>
              <a:t> </a:t>
            </a:r>
            <a:r>
              <a:rPr lang="en-US" dirty="0" err="1"/>
              <a:t>pretplatnicima</a:t>
            </a:r>
            <a:endParaRPr lang="en-US" dirty="0"/>
          </a:p>
          <a:p>
            <a:endParaRPr lang="en-US" dirty="0"/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Aplikacijski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mikroservisa, Redis za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deduplikaciju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baza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PostgreSQL 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proširenjem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TimescaleDB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6039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Ovaj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dijagram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životni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ciklus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od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uređaja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trajne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pohrane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Uređaj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objavljuje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očitanje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razinom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QoS 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Posrednik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prosljeđuje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koji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najprije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provjerava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je li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vidio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Ako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nova,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pohranjuje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bazu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zatim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označi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njezin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identifikator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naposljetku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potvrđuje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primitak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posredniku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Taj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redoslijed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namjeran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njemu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ovisi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ispravnost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cijelog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sustava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vraćam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implementacije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28859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Deduplikacija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idempotentnost </a:t>
            </a:r>
            <a:r>
              <a:rPr lang="en-US" dirty="0" err="1"/>
              <a:t>ostvareni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u </a:t>
            </a:r>
            <a:r>
              <a:rPr lang="en-US" dirty="0" err="1"/>
              <a:t>potpunosti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aplikacijskom</a:t>
            </a:r>
            <a:r>
              <a:rPr lang="en-US" dirty="0"/>
              <a:t> </a:t>
            </a:r>
            <a:r>
              <a:rPr lang="en-US" dirty="0" err="1"/>
              <a:t>sloju</a:t>
            </a:r>
            <a:endParaRPr lang="en-US" dirty="0"/>
          </a:p>
          <a:p>
            <a:endParaRPr lang="en-US" dirty="0"/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jedinstveni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identifikator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sastavljen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oznake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uređaja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vremenske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oznake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milisekundama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rednog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brojača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objava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jednoznačno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određena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stigne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naredbom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EXISTS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provjeri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postoji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taj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identifikator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provjera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složenosti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O(1)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ispod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milisekunde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identifikator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postoji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duplikat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odbacuje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Ako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podatak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upiše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bazu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zatim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identifikator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zabilježi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naredbom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SET 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istekom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3600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sekundi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Taj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sat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vremena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pokriva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prozore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retransmisije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istekom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ključa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Redis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čisti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zauzeće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ostaje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ograničeno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48382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Ovdje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mjestu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sažeta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cijela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pouzdanost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počiva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mehanizmu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četiri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komplementarna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sloja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uređaju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ESP32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postoji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kružni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međuspremnik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takozvani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outbox,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neblokirajuće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ponovno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spajanje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pa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uređaj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mjerenja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mreža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nedostupna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Posrednik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Mosquitto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perzistentnu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sesiju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zapisuje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disk, pa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preživi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vlastito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ponovno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pokretanje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potvrđuje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primitak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nakon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uspješne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obrade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obnavlja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pretplate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nakon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spajanja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Napokon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aplikacijski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kombinira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QoS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Redis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deduplikaciju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slojevi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zajedno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rezultat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idempotentna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obrada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svim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scenarijima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38005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Ukratno</a:t>
            </a:r>
            <a:r>
              <a:rPr lang="en-US" dirty="0"/>
              <a:t> o </a:t>
            </a:r>
            <a:r>
              <a:rPr lang="en-US" dirty="0" err="1"/>
              <a:t>ugra</a:t>
            </a:r>
            <a:r>
              <a:rPr lang="hr-HR" dirty="0" err="1"/>
              <a:t>đenom</a:t>
            </a:r>
            <a:r>
              <a:rPr lang="hr-HR" dirty="0"/>
              <a:t> programu uređaja</a:t>
            </a:r>
          </a:p>
          <a:p>
            <a:endParaRPr lang="hr-HR" dirty="0"/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Uređaj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programiran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C-u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Arduino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okruženju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PlatformIO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objavljuje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mjerenje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svakih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sekundi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razinom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QoS 1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Očitava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temperaturu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vlagu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senzora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DHT11, 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vrijeme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sinkronizira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NTP-a da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vremenska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oznaka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točna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svaku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objavu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generira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jedinstveni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identifikator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veza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mjerenja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odlaze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outbox,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kružni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spremnik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256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unosa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koji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prepunjenju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odbacuje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najstarije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spajanje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Wi-Fi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posrednika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neblokirajuće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pa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uređaj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nastavlja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mjeriti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bez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zastoja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09196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Poslužiteljska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mikroservisa </a:t>
            </a:r>
            <a:r>
              <a:rPr lang="hr-H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razvijena u </a:t>
            </a:r>
            <a:r>
              <a:rPr lang="hr-H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hr-H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r-H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Boot</a:t>
            </a:r>
            <a:r>
              <a:rPr lang="hr-H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okviru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Dijele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zajedničku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osnovu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razdvojene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odgovornosti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r-H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ervis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deduplicira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pohranjuje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očitanja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Servis za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upozorenja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primjenjuje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pravila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razine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WARNING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CRITICAL,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šalje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webhook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obavijesti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potvrđuju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primitak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nakon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uspješne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obrade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Ključ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idempotentnosti je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upravo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redoslijed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najprije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bazu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zatim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oznaka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potvrda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posredniku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potvrde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posrednik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će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poslati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ponovno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a Redis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će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prepoznati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obrađenu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pa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dupliranja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630111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pohranu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koristim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PostgreSQL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proširen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TimescaleDB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-om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Tablice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hipertablice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automatski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particionirane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vremenu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odgovara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prirodi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telemetrije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Shem</a:t>
            </a:r>
            <a:r>
              <a:rPr lang="hr-H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 baze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upravlja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Flyway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pokretanju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servisa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temeljnu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mjeru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računam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razliku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između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trenutka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primitka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vremenske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oznake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mjerenja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Cijela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infrastruktura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opisana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u Docker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Composeu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podiže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naredbom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Redoslijed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pokretanja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osiguravaju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ovisnosti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zdravstvene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provjere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r-H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ervisi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grade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višefaznim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Dockerfileom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pa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razvojno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okruženje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determinističko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ponovljivo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31534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mjerenja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napisao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generator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opterećenja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koji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simulira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virtualnih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uređaja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koristeći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identifikatore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stvarni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ESP32, pa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obrađuju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istovjetno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Mjerim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latenciju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percentilima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P50, P95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P99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pouzdanost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duplikate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vrijeme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nadoknade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nakon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kvara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računam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udio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poslanih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završile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jedinstveno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pohranjene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Svaki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kreće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čistog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pražnjenje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baze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mjere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čitam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izravno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baze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r-H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Rezultati su testirani na 6 scenarija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238783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Prvi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stabilno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opterećenje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sekundi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 2400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poslanih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pohranjeno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svih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2400, 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dakle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gubitak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Medijan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16,6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milisekundi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a P95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P99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29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35,5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milisekundi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20,1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sekundi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r-H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pokazuje da je sustav stabilan i brz, s medijanom ispod 20 milisekundi</a:t>
            </a: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Drugi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uspoređuje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razine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QoS-a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potrošač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nedostupan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Uz QoS 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retransmisije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Uz QoS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QoS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nula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je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potvrđeno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odabir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QoS-a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nužan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uvjet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gubitak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14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665529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Treći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izravno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provjerava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deduplikaciju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pošaljem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pet puta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Pohranjen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točno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preostale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četiri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kopije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odbačene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upravo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koliko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očekivalo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temelju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identifikatora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provjere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Redisu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Četvrti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simulira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kvar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posrednika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oslanja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outbox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uređaja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kraćeg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prekida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ispod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kapaciteta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međuspremnika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reproducira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spremnika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duljeg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prekada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kapaciteta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nastupa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kontrolirana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degradacija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uređaj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odbacuje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najstarije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iznosi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28,1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posto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svjesan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kompromis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a ne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nekontrolirani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ispad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15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79374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Peti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usred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rada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Nakon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oporavka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isporučeno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svih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360 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bez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bez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duplikata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nadoknada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zaostatka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trajala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3,2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sekunde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Zasluga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perzistentne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posrednika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čuva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nema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Šesti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tjera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deduplikaciju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visokim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opterećenjem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385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sekundi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dvostrukom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preopterećenju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 23566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poslanih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pohranjeno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svih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23566, bez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ijednog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duplikata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Sustav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protupritiskom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a ne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odbacivanjem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a Redis je za 47132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ključa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zauzeo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6,67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megabajta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16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17115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sažmem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rezultate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kroz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svih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poruka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bazi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nijednog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duplikata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medijan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16,6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milisekundi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nadoknada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nakon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kvara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3,2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sekunde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potvrđena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glavna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teza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rada</a:t>
            </a:r>
            <a:r>
              <a:rPr lang="hr-H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kombinacija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QoS-a 1, deduplikacije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perzistentne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gubitak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Ispravnost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deduplikacije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potvrđena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izravno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opterećenjem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urednom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latencija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ostaje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niska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P50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ispod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P99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ispod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milisekundi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preopterećenju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kvaru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sustav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degradira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postupno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bez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gubitka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17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479746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</a:t>
            </a:r>
            <a:r>
              <a:rPr lang="hr-H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svjesna ograničenja</a:t>
            </a: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prekida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duljeg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kapaciteta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međuspremnika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dolazi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od 28,1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posto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Baza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jedinstveni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indeks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identifikatoru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zbog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ograničenja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hipertablica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pa idempotentnost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počiva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Redisu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Prototip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bez TLS-a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autentikacije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izoliranoj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mreži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potrošač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jednonitan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dirty="0"/>
          </a:p>
          <a:p>
            <a:endParaRPr lang="hr-HR" dirty="0"/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Prirodni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smjerovi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nadogradnje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</a:t>
            </a:r>
            <a:r>
              <a:rPr lang="hr-H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autentikacija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posredniku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sabirnica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poput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RabbitMQ-a za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horizontalno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skaliranje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prelazak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Kubernetes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18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709168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kraj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implementiran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eksperimentalno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provjeren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prototip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pouzdanu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obradu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IoT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telemetrije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od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uređaja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ESP32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posrednika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Mosquitto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mikroservisa do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baze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Glavni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doprinos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slojevita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pouzdanosti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deduplikacijom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aplikacijskom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sloju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r-H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kroz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svih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scenarija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gubitak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ispravno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suzbijanje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duplikata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r-H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medijan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latencije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ispod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milisekundi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stabilnom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opterećenju</a:t>
            </a:r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hr-H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Zahvaljujem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pažnji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odgovoriti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vaša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pitanja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68B23-BB8D-422C-86A5-F436D5A61452}" type="slidenum">
              <a:rPr lang="hr-HR" smtClean="0"/>
              <a:t>19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21839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A61CA-457A-B9C6-F04F-68BE2458D2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65DF90-F754-CC86-DADA-49A8039F4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7E4DB-72E4-8E09-982B-A87A43B7F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E93B-3C43-4AC7-9488-B2E578062D1E}" type="datetimeFigureOut">
              <a:rPr lang="hr-HR" smtClean="0"/>
              <a:t>16.7.2026.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158CA-FA28-ED10-870D-31D5DD0BC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7F5D4-F52D-04BC-3D27-031B2ACF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BF1-F3C5-4DE8-9226-13D1D11E687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35686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F7904-A6B0-956B-148F-077CF325F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D782B-88BD-AA5F-B3B0-5B0FF82E2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5164D-C6EE-3680-433C-5EA6FD4D1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E93B-3C43-4AC7-9488-B2E578062D1E}" type="datetimeFigureOut">
              <a:rPr lang="hr-HR" smtClean="0"/>
              <a:t>16.7.2026.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1D58A-EDAD-874A-BBC3-0E5CCD7A2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73F77-6C36-D090-F6C5-D4821EA9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BF1-F3C5-4DE8-9226-13D1D11E687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00208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3B500-97DC-61B8-9FAC-893EB8FFD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DC545-1A96-6B01-CC2A-6A642A314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7905E-1934-6F2E-07ED-588D7BADE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E93B-3C43-4AC7-9488-B2E578062D1E}" type="datetimeFigureOut">
              <a:rPr lang="hr-HR" smtClean="0"/>
              <a:t>16.7.2026.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61CCD-4FA1-C0BA-7BB4-90CFB80E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063F1-C7CF-E969-627D-A9F47348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BF1-F3C5-4DE8-9226-13D1D11E687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99598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AD348-F60C-CEE3-5923-0CD34A0EB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5BC4D-CA4A-3AC4-46A4-3ABBD0CD9F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70865-DC8D-44A4-5E9D-D9CD623E7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BE8BA-F24C-A046-2EF5-D2109D2F5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E93B-3C43-4AC7-9488-B2E578062D1E}" type="datetimeFigureOut">
              <a:rPr lang="hr-HR" smtClean="0"/>
              <a:t>16.7.2026.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87010-D13A-0084-EE6B-EF12CEF73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B4B4D-7749-6D92-916B-8067434AB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BF1-F3C5-4DE8-9226-13D1D11E687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90212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B90BC-D8E7-0E3B-78C9-CCC2B4C98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01A5A-533A-6705-76C4-95B91D5C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1E23C-C3C4-768D-4DDA-0F195EC75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10B17-AD40-C6DD-4171-AE26C0D7F6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D47D41-9D83-5C67-FC26-C816A601C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ABC77C-1675-CF27-38D5-D05AAE1E5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E93B-3C43-4AC7-9488-B2E578062D1E}" type="datetimeFigureOut">
              <a:rPr lang="hr-HR" smtClean="0"/>
              <a:t>16.7.2026.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3F23F8-D5A0-7137-9D95-885F2A5A6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37CA02-3915-2337-BCA1-27CE5A80A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BF1-F3C5-4DE8-9226-13D1D11E687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30668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6A775-CF10-860E-E946-704325759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7E11E-2127-D6CF-9A63-EAA69DD9F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E93B-3C43-4AC7-9488-B2E578062D1E}" type="datetimeFigureOut">
              <a:rPr lang="hr-HR" smtClean="0"/>
              <a:t>16.7.2026.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F6296A-A605-E372-5FC1-054FD4C4B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A6F53-2385-F46C-EC84-1A37ED1C2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BF1-F3C5-4DE8-9226-13D1D11E687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51801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046896-62A0-F899-444F-548D40673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E93B-3C43-4AC7-9488-B2E578062D1E}" type="datetimeFigureOut">
              <a:rPr lang="hr-HR" smtClean="0"/>
              <a:t>16.7.2026.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700B70-C264-AAC4-7847-25845CB61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350B3-9BBA-A2FC-E0D1-C04B4AB64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BF1-F3C5-4DE8-9226-13D1D11E687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33403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E5C77-EB04-0406-E9D3-8618D6AA6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D62D6-92DF-56B5-7EC9-AA0EDAA32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EBDBA-A474-8F3E-9C26-DEA01B75D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3CB7B-65F5-5D4D-B67B-D239404C3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E93B-3C43-4AC7-9488-B2E578062D1E}" type="datetimeFigureOut">
              <a:rPr lang="hr-HR" smtClean="0"/>
              <a:t>16.7.2026.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941E0-94F9-E2A3-1D7D-1AADC505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439C2-4F07-82E3-C06A-C5416BCC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BF1-F3C5-4DE8-9226-13D1D11E687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2366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70DAA-CB3E-760D-FC83-B712ACC49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4E717E-4EC4-671A-2940-DEFE350A0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DA645-0F95-D5BA-B0F7-664B6151E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BE70F-E4A4-C79D-D3DE-357257F02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E93B-3C43-4AC7-9488-B2E578062D1E}" type="datetimeFigureOut">
              <a:rPr lang="hr-HR" smtClean="0"/>
              <a:t>16.7.2026.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A719E-0719-8AD6-0810-0BD59527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2A015-3C2B-8CF3-2403-CC516D0B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BF1-F3C5-4DE8-9226-13D1D11E687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64354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CAB4-007E-6ED5-E714-0091FBEEA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DD745-AA50-30C2-55EE-FFD62B306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08CF0-F116-47F0-1665-CCC0275F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E93B-3C43-4AC7-9488-B2E578062D1E}" type="datetimeFigureOut">
              <a:rPr lang="hr-HR" smtClean="0"/>
              <a:t>16.7.2026.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FB2A2-DB7B-C310-56AD-C50016D78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6DD13-18C3-11B9-0BF0-F14758A4F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BF1-F3C5-4DE8-9226-13D1D11E687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09990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B47365-5BE8-AD3A-D556-7369F44041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6D0EC-406B-D3C7-FB83-EC4A6E8A1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1937C-9DFC-DFEF-7BDC-37D4CF62E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E93B-3C43-4AC7-9488-B2E578062D1E}" type="datetimeFigureOut">
              <a:rPr lang="hr-HR" smtClean="0"/>
              <a:t>16.7.2026.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CA3D0-8492-E09C-F53F-E0A4B6460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AD933-C57B-A9BC-F43F-9F93F556E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3BF1-F3C5-4DE8-9226-13D1D11E687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22792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D972E8-7A32-3F0C-998D-13693EA14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E41D4-9112-C921-9B1E-0BEBE86CA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29F34-C86F-5DF5-6D99-45C98A44EA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4CE93B-3C43-4AC7-9488-B2E578062D1E}" type="datetimeFigureOut">
              <a:rPr lang="hr-HR" smtClean="0"/>
              <a:t>16.7.2026.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A8328-FB23-EBA6-4C51-EDBC1736C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25521-C0AC-BD66-39B1-A269CB29E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63BF1-F3C5-4DE8-9226-13D1D11E687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25453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808080"/>
                </a:solidFill>
                <a:latin typeface="Arial"/>
              </a:rPr>
              <a:t>Sveučilište u Zagrebu  ·  Fakultet elektrotehnike i računarstva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327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 dirty="0" err="1">
                <a:solidFill>
                  <a:srgbClr val="12263A"/>
                </a:solidFill>
                <a:latin typeface="Arial"/>
              </a:rPr>
              <a:t>Pouzdana</a:t>
            </a:r>
            <a:r>
              <a:rPr sz="34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3400" b="1" i="0" dirty="0" err="1">
                <a:solidFill>
                  <a:srgbClr val="12263A"/>
                </a:solidFill>
                <a:latin typeface="Arial"/>
              </a:rPr>
              <a:t>obrada</a:t>
            </a:r>
            <a:r>
              <a:rPr sz="3400" b="1" i="0" dirty="0">
                <a:solidFill>
                  <a:srgbClr val="12263A"/>
                </a:solidFill>
                <a:latin typeface="Arial"/>
              </a:rPr>
              <a:t> IoT </a:t>
            </a:r>
            <a:r>
              <a:rPr sz="3400" b="1" i="0" dirty="0" err="1">
                <a:solidFill>
                  <a:srgbClr val="12263A"/>
                </a:solidFill>
                <a:latin typeface="Arial"/>
              </a:rPr>
              <a:t>telemetrije</a:t>
            </a:r>
            <a:r>
              <a:rPr sz="3400" b="1" i="0" dirty="0">
                <a:solidFill>
                  <a:srgbClr val="12263A"/>
                </a:solidFill>
                <a:latin typeface="Arial"/>
              </a:rPr>
              <a:t> u mikroservisnoj </a:t>
            </a:r>
            <a:r>
              <a:rPr sz="3400" b="1" i="0" dirty="0" err="1">
                <a:solidFill>
                  <a:srgbClr val="12263A"/>
                </a:solidFill>
                <a:latin typeface="Arial"/>
              </a:rPr>
              <a:t>arhitekturi</a:t>
            </a:r>
            <a:r>
              <a:rPr sz="34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3400" b="1" i="0" dirty="0" err="1">
                <a:solidFill>
                  <a:srgbClr val="12263A"/>
                </a:solidFill>
                <a:latin typeface="Arial"/>
              </a:rPr>
              <a:t>vođenoj</a:t>
            </a:r>
            <a:r>
              <a:rPr sz="34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3400" b="1" i="0" dirty="0" err="1">
                <a:solidFill>
                  <a:srgbClr val="12263A"/>
                </a:solidFill>
                <a:latin typeface="Arial"/>
              </a:rPr>
              <a:t>događajima</a:t>
            </a:r>
            <a:r>
              <a:rPr sz="34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3400" b="1" i="0" dirty="0" err="1">
                <a:solidFill>
                  <a:srgbClr val="12263A"/>
                </a:solidFill>
                <a:latin typeface="Arial"/>
              </a:rPr>
              <a:t>primjenom</a:t>
            </a:r>
            <a:r>
              <a:rPr sz="34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3400" b="1" i="0" dirty="0" err="1">
                <a:solidFill>
                  <a:srgbClr val="12263A"/>
                </a:solidFill>
                <a:latin typeface="Arial"/>
              </a:rPr>
              <a:t>protokola</a:t>
            </a:r>
            <a:r>
              <a:rPr sz="3400" b="1" i="0" dirty="0">
                <a:solidFill>
                  <a:srgbClr val="12263A"/>
                </a:solidFill>
                <a:latin typeface="Arial"/>
              </a:rPr>
              <a:t> MQTT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4160520"/>
            <a:ext cx="2377440" cy="6400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 i="0" dirty="0" err="1">
                <a:solidFill>
                  <a:srgbClr val="2E86AB"/>
                </a:solidFill>
                <a:latin typeface="Arial"/>
              </a:rPr>
              <a:t>Diplomski</a:t>
            </a:r>
            <a:r>
              <a:rPr sz="2000" b="1" i="0" dirty="0">
                <a:solidFill>
                  <a:srgbClr val="2E86AB"/>
                </a:solidFill>
                <a:latin typeface="Arial"/>
              </a:rPr>
              <a:t> rad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 dirty="0">
                <a:solidFill>
                  <a:srgbClr val="202020"/>
                </a:solidFill>
                <a:latin typeface="Arial"/>
              </a:rPr>
              <a:t>Student: Luka Iveković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 dirty="0">
                <a:solidFill>
                  <a:srgbClr val="202020"/>
                </a:solidFill>
                <a:latin typeface="Arial"/>
              </a:rPr>
              <a:t>Mentor: doc. dr. sc. Slaven Zakošek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808080"/>
                </a:solidFill>
                <a:latin typeface="Arial"/>
              </a:rPr>
              <a:t>Zagreb, srpanj 2026.</a:t>
            </a:r>
          </a:p>
        </p:txBody>
      </p:sp>
    </p:spTree>
    <p:extLst>
      <p:ext uri="{BB962C8B-B14F-4D97-AF65-F5344CB8AC3E}">
        <p14:creationId xmlns:p14="http://schemas.microsoft.com/office/powerpoint/2010/main" val="4184976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2263A"/>
                </a:solidFill>
                <a:latin typeface="Arial"/>
              </a:rPr>
              <a:t>Sadržaj prezentacije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2011680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9601200" cy="4043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2400" b="1" i="0" dirty="0">
                <a:solidFill>
                  <a:srgbClr val="000000"/>
                </a:solidFill>
                <a:latin typeface="Arial"/>
              </a:rPr>
              <a:t>1.   </a:t>
            </a:r>
            <a:r>
              <a:rPr sz="2400" b="1" i="0" dirty="0" err="1">
                <a:solidFill>
                  <a:srgbClr val="000000"/>
                </a:solidFill>
                <a:latin typeface="Arial"/>
              </a:rPr>
              <a:t>Uvod</a:t>
            </a:r>
            <a:r>
              <a:rPr sz="2400" b="1" i="0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Arial"/>
              </a:rPr>
              <a:t>motivacija</a:t>
            </a:r>
            <a:r>
              <a:rPr lang="en-US" sz="2400" b="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/>
              </a:rPr>
              <a:t>i</a:t>
            </a:r>
            <a:r>
              <a:rPr lang="en-US" sz="2400" b="1" dirty="0">
                <a:solidFill>
                  <a:srgbClr val="000000"/>
                </a:solidFill>
                <a:latin typeface="Arial"/>
              </a:rPr>
              <a:t> MQTT</a:t>
            </a:r>
            <a:endParaRPr sz="2400" b="1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2400" b="0" i="0" dirty="0">
                <a:solidFill>
                  <a:srgbClr val="000000"/>
                </a:solidFill>
                <a:latin typeface="Arial"/>
              </a:rPr>
              <a:t>2.  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Cilj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rada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2400" b="0" i="0" dirty="0">
                <a:solidFill>
                  <a:srgbClr val="000000"/>
                </a:solidFill>
                <a:latin typeface="Arial"/>
              </a:rPr>
              <a:t>3.  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Arhitektura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sustava</a:t>
            </a:r>
            <a:endParaRPr sz="24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2400" b="0" i="0" dirty="0">
                <a:solidFill>
                  <a:srgbClr val="000000"/>
                </a:solidFill>
                <a:latin typeface="Arial"/>
              </a:rPr>
              <a:t>4.  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Mehanizmi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pouzdanosti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i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deduplikacija</a:t>
            </a:r>
            <a:endParaRPr sz="24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2400" b="0" i="0" dirty="0">
                <a:solidFill>
                  <a:srgbClr val="000000"/>
                </a:solidFill>
                <a:latin typeface="Arial"/>
              </a:rPr>
              <a:t>5.  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Implementacija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: ESP32, mikroservisi,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infrastruktura</a:t>
            </a:r>
            <a:endParaRPr sz="24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2400" b="0" i="0" dirty="0">
                <a:solidFill>
                  <a:srgbClr val="000000"/>
                </a:solidFill>
                <a:latin typeface="Arial"/>
              </a:rPr>
              <a:t>6.  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Testiranje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i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rezultati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(T1 do T6)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2400" b="0" i="0" dirty="0">
                <a:solidFill>
                  <a:srgbClr val="000000"/>
                </a:solidFill>
                <a:latin typeface="Arial"/>
              </a:rPr>
              <a:t>7.   Analiza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i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zaključak</a:t>
            </a:r>
            <a:endParaRPr sz="240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98480" y="641908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i="0">
                <a:solidFill>
                  <a:srgbClr val="808080"/>
                </a:solidFill>
                <a:latin typeface="Arial"/>
                <a:cs typeface="Arial"/>
              </a:rPr>
              <a:t>2 / 19</a:t>
            </a:r>
            <a:endParaRPr sz="1200" i="0">
              <a:solidFill>
                <a:srgbClr val="80808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803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2263A"/>
                </a:solidFill>
                <a:latin typeface="Arial"/>
              </a:rPr>
              <a:t>Uvod i motivacija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2011680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66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23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Broj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IoT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uređaja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naglo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raste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: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preko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18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milijardi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(2024.), ~30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milijardi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do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kraja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desetljeća</a:t>
            </a:r>
            <a:endParaRPr sz="23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23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Senzori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kontinuirano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šalju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telemetriju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poslužiteljskoj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strani</a:t>
            </a:r>
            <a:endParaRPr sz="23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23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Klasični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HTTP model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pokazuje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ograničenja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:</a:t>
            </a:r>
          </a:p>
          <a:p>
            <a:pPr marL="384048" indent="0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0" i="0" dirty="0">
                <a:solidFill>
                  <a:srgbClr val="202020"/>
                </a:solidFill>
                <a:latin typeface="Arial"/>
              </a:rPr>
              <a:t>–  TCP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sesija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po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svakom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mjerenju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(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suvišan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režijski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trošak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)</a:t>
            </a:r>
          </a:p>
          <a:p>
            <a:pPr marL="384048" indent="0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0" i="0" dirty="0">
                <a:solidFill>
                  <a:srgbClr val="202020"/>
                </a:solidFill>
                <a:latin typeface="Arial"/>
              </a:rPr>
              <a:t>– 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sinkroni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zahtjevi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loše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podnose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prekide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mreže</a:t>
            </a:r>
            <a:endParaRPr sz="2000" b="0" i="0" dirty="0">
              <a:solidFill>
                <a:srgbClr val="202020"/>
              </a:solidFill>
              <a:latin typeface="Arial"/>
            </a:endParaRPr>
          </a:p>
          <a:p>
            <a:pPr marL="384048" indent="0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0" i="0" dirty="0">
                <a:solidFill>
                  <a:srgbClr val="202020"/>
                </a:solidFill>
                <a:latin typeface="Arial"/>
              </a:rPr>
              <a:t>– 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tijesna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sprega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proizvođača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i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potrošača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otežava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skaliranje</a:t>
            </a:r>
            <a:endParaRPr lang="hr-HR" sz="2000" b="0" i="0" dirty="0">
              <a:solidFill>
                <a:srgbClr val="202020"/>
              </a:solidFill>
              <a:latin typeface="Arial"/>
            </a:endParaRPr>
          </a:p>
          <a:p>
            <a:pPr marL="384048" indent="0"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endParaRPr sz="2000" b="0" i="0" dirty="0">
              <a:solidFill>
                <a:srgbClr val="20202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23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Rješenje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: MQTT +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arhitektura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vođena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događajima</a:t>
            </a:r>
            <a:endParaRPr sz="23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23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Ključni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izazov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: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pouzdana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dostava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bez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gubitka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i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bez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dvostruke</a:t>
            </a:r>
            <a:r>
              <a:rPr sz="23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300" b="0" i="0" dirty="0" err="1">
                <a:solidFill>
                  <a:srgbClr val="000000"/>
                </a:solidFill>
                <a:latin typeface="Arial"/>
              </a:rPr>
              <a:t>obrade</a:t>
            </a:r>
            <a:endParaRPr sz="230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98480" y="641908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i="0">
                <a:solidFill>
                  <a:srgbClr val="808080"/>
                </a:solidFill>
                <a:latin typeface="Arial"/>
                <a:cs typeface="Arial"/>
              </a:rPr>
              <a:t>3 / 19</a:t>
            </a:r>
            <a:endParaRPr sz="1200" i="0" dirty="0">
              <a:solidFill>
                <a:srgbClr val="80808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7509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2263A"/>
                </a:solidFill>
                <a:latin typeface="Arial"/>
              </a:rPr>
              <a:t>MQTT i razine kvalitete usluge (QoS)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2011680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035040" cy="493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0" i="0" dirty="0">
                <a:solidFill>
                  <a:srgbClr val="000000"/>
                </a:solidFill>
                <a:latin typeface="Arial"/>
              </a:rPr>
              <a:t>●  Lagani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protokol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objavi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-pretplati (ISO/IEC 20922)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Posrednik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(broker)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razdvaja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proizvođače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i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potrošače</a:t>
            </a:r>
            <a:endParaRPr sz="21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Hijerarhijske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teme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npr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. telemetry/esp32-001/temperature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0" i="0" dirty="0">
                <a:solidFill>
                  <a:srgbClr val="000000"/>
                </a:solidFill>
                <a:latin typeface="Arial"/>
              </a:rPr>
              <a:t>●  QoS 0: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najviše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jednom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(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moguć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gubitak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0" i="0" dirty="0">
                <a:solidFill>
                  <a:srgbClr val="000000"/>
                </a:solidFill>
                <a:latin typeface="Arial"/>
              </a:rPr>
              <a:t>●  QoS 1: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barem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jednom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(bez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gubitka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mogući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duplikati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0" i="0" dirty="0">
                <a:solidFill>
                  <a:srgbClr val="000000"/>
                </a:solidFill>
                <a:latin typeface="Arial"/>
              </a:rPr>
              <a:t>●  QoS 2: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točno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jednom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(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najveći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režijski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trošak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Odabir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: QoS 1 +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deduplikacija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na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aplikacijskom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sloju</a:t>
            </a:r>
            <a:endParaRPr sz="2100" b="0" i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4" descr="raw_p1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009547"/>
            <a:ext cx="4846320" cy="3113225"/>
          </a:xfrm>
          <a:prstGeom prst="rect">
            <a:avLst/>
          </a:prstGeom>
          <a:ln w="9525">
            <a:solidFill>
              <a:srgbClr val="CFD8D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040880" y="56235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1">
                <a:solidFill>
                  <a:srgbClr val="808080"/>
                </a:solidFill>
                <a:latin typeface="Arial"/>
              </a:rPr>
              <a:t>QoS 1: PUBLISH / PUBACK i retransmisija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1908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i="0">
                <a:solidFill>
                  <a:srgbClr val="808080"/>
                </a:solidFill>
                <a:latin typeface="Arial"/>
                <a:cs typeface="Arial"/>
              </a:rPr>
              <a:t>4 / 19</a:t>
            </a:r>
            <a:endParaRPr sz="1200" i="0">
              <a:solidFill>
                <a:srgbClr val="80808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1976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2263A"/>
                </a:solidFill>
                <a:latin typeface="Arial"/>
              </a:rPr>
              <a:t>Cilj rada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2011680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24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Prototip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sustava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za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pouzdanu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obradu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IoT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telemetrije</a:t>
            </a:r>
            <a:endParaRPr sz="24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24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Slojevita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strategija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pouzdanosti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: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uređaj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→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posrednik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→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servis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→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baza</a:t>
            </a:r>
            <a:endParaRPr sz="24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24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Idempotentna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obrada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: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nijedna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poruka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izgubljena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niti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obrađena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dvaput</a:t>
            </a:r>
            <a:endParaRPr sz="24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24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Predvidljiva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latencija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pod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realnim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opterećenjem</a:t>
            </a:r>
            <a:endParaRPr sz="24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24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Eksperimentalna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potvrda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kroz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šest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/>
              </a:rPr>
              <a:t>scenarija</a:t>
            </a:r>
            <a:r>
              <a:rPr sz="2400" b="0" i="0" dirty="0">
                <a:solidFill>
                  <a:srgbClr val="000000"/>
                </a:solidFill>
                <a:latin typeface="Arial"/>
              </a:rPr>
              <a:t> (T1 do T6)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1908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i="0">
                <a:solidFill>
                  <a:srgbClr val="808080"/>
                </a:solidFill>
                <a:latin typeface="Arial"/>
                <a:cs typeface="Arial"/>
              </a:rPr>
              <a:t>5 / 19</a:t>
            </a:r>
            <a:endParaRPr sz="1200" i="0">
              <a:solidFill>
                <a:srgbClr val="80808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2759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2263A"/>
                </a:solidFill>
                <a:latin typeface="Arial"/>
              </a:rPr>
              <a:t>Arhitektura sustava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2011680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raw_p1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839" y="1225296"/>
            <a:ext cx="6273230" cy="4987379"/>
          </a:xfrm>
          <a:prstGeom prst="rect">
            <a:avLst/>
          </a:prstGeom>
          <a:ln w="9525">
            <a:solidFill>
              <a:srgbClr val="CFD8D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926839" y="6451037"/>
            <a:ext cx="5760720" cy="206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1" dirty="0" err="1">
                <a:solidFill>
                  <a:srgbClr val="808080"/>
                </a:solidFill>
                <a:latin typeface="Arial"/>
              </a:rPr>
              <a:t>Arhitektura</a:t>
            </a:r>
            <a:r>
              <a:rPr sz="1300" b="0" i="1" dirty="0">
                <a:solidFill>
                  <a:srgbClr val="808080"/>
                </a:solidFill>
                <a:latin typeface="Arial"/>
              </a:rPr>
              <a:t> </a:t>
            </a:r>
            <a:r>
              <a:rPr sz="1300" b="0" i="1" dirty="0" err="1">
                <a:solidFill>
                  <a:srgbClr val="808080"/>
                </a:solidFill>
                <a:latin typeface="Arial"/>
              </a:rPr>
              <a:t>sustava</a:t>
            </a:r>
            <a:r>
              <a:rPr sz="1300" b="0" i="1" dirty="0">
                <a:solidFill>
                  <a:srgbClr val="808080"/>
                </a:solidFill>
                <a:latin typeface="Arial"/>
              </a:rPr>
              <a:t> </a:t>
            </a:r>
            <a:r>
              <a:rPr sz="1300" b="0" i="1" dirty="0" err="1">
                <a:solidFill>
                  <a:srgbClr val="808080"/>
                </a:solidFill>
                <a:latin typeface="Arial"/>
              </a:rPr>
              <a:t>na</a:t>
            </a:r>
            <a:r>
              <a:rPr sz="1300" b="0" i="1" dirty="0">
                <a:solidFill>
                  <a:srgbClr val="808080"/>
                </a:solidFill>
                <a:latin typeface="Arial"/>
              </a:rPr>
              <a:t> </a:t>
            </a:r>
            <a:r>
              <a:rPr sz="1300" b="0" i="1" dirty="0" err="1">
                <a:solidFill>
                  <a:srgbClr val="808080"/>
                </a:solidFill>
                <a:latin typeface="Arial"/>
              </a:rPr>
              <a:t>visokoj</a:t>
            </a:r>
            <a:r>
              <a:rPr sz="1300" b="0" i="1" dirty="0">
                <a:solidFill>
                  <a:srgbClr val="808080"/>
                </a:solidFill>
                <a:latin typeface="Arial"/>
              </a:rPr>
              <a:t> </a:t>
            </a:r>
            <a:r>
              <a:rPr sz="1300" b="0" i="1" dirty="0" err="1">
                <a:solidFill>
                  <a:srgbClr val="808080"/>
                </a:solidFill>
                <a:latin typeface="Arial"/>
              </a:rPr>
              <a:t>razini</a:t>
            </a:r>
            <a:endParaRPr sz="1300" b="0" i="1" dirty="0">
              <a:solidFill>
                <a:srgbClr val="80808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98480" y="641908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i="0">
                <a:solidFill>
                  <a:srgbClr val="808080"/>
                </a:solidFill>
                <a:latin typeface="Arial"/>
                <a:cs typeface="Arial"/>
              </a:rPr>
              <a:t>6 / 19</a:t>
            </a:r>
            <a:endParaRPr sz="1200" i="0">
              <a:solidFill>
                <a:srgbClr val="808080"/>
              </a:solidFill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33CF63-C37D-0D95-67B4-B8B028107518}"/>
              </a:ext>
            </a:extLst>
          </p:cNvPr>
          <p:cNvSpPr txBox="1"/>
          <p:nvPr/>
        </p:nvSpPr>
        <p:spPr>
          <a:xfrm>
            <a:off x="9304842" y="1437524"/>
            <a:ext cx="2124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Percepcijski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sloj</a:t>
            </a:r>
            <a:endParaRPr lang="hr-H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E0D39B-4B90-A019-6DC9-1F3942145A17}"/>
              </a:ext>
            </a:extLst>
          </p:cNvPr>
          <p:cNvSpPr txBox="1"/>
          <p:nvPr/>
        </p:nvSpPr>
        <p:spPr>
          <a:xfrm>
            <a:off x="9560476" y="2776037"/>
            <a:ext cx="1612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Mre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žni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sloj</a:t>
            </a:r>
            <a:endParaRPr lang="hr-H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E8E3A8-561D-823B-24DA-3FDA8CD68102}"/>
              </a:ext>
            </a:extLst>
          </p:cNvPr>
          <p:cNvSpPr txBox="1"/>
          <p:nvPr/>
        </p:nvSpPr>
        <p:spPr>
          <a:xfrm>
            <a:off x="9380272" y="4480727"/>
            <a:ext cx="19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Aplikacijski sloj</a:t>
            </a:r>
          </a:p>
        </p:txBody>
      </p:sp>
    </p:spTree>
    <p:extLst>
      <p:ext uri="{BB962C8B-B14F-4D97-AF65-F5344CB8AC3E}">
        <p14:creationId xmlns:p14="http://schemas.microsoft.com/office/powerpoint/2010/main" val="2023369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pied Picture 3" descr="raw_p1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2" y="1257808"/>
            <a:ext cx="10829641" cy="5018959"/>
          </a:xfrm>
          <a:prstGeom prst="rect">
            <a:avLst/>
          </a:prstGeom>
          <a:ln w="9525">
            <a:solidFill>
              <a:srgbClr val="CFD8DC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98CA12-5A56-4B8F-B71E-9107039F9EF9}"/>
              </a:ext>
            </a:extLst>
          </p:cNvPr>
          <p:cNvSpPr txBox="1"/>
          <p:nvPr/>
        </p:nvSpPr>
        <p:spPr>
          <a:xfrm>
            <a:off x="1231900" y="6451600"/>
            <a:ext cx="9728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pl-PL" sz="1400" i="1">
                <a:solidFill>
                  <a:srgbClr val="808080"/>
                </a:solidFill>
                <a:latin typeface="Arial"/>
                <a:cs typeface="Arial"/>
              </a:rPr>
              <a:t>Životni ciklus poruke od uređaja do pohrane</a:t>
            </a:r>
            <a:endParaRPr lang="hr-HR" sz="1400" i="1">
              <a:solidFill>
                <a:srgbClr val="808080"/>
              </a:solidFill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D27749-1CAE-47CA-82CF-844FEB24AA24}"/>
              </a:ext>
            </a:extLst>
          </p:cNvPr>
          <p:cNvSpPr txBox="1"/>
          <p:nvPr/>
        </p:nvSpPr>
        <p:spPr>
          <a:xfrm>
            <a:off x="560832" y="342138"/>
            <a:ext cx="10972800" cy="58477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hr-HR" sz="3200" b="1" dirty="0">
                <a:solidFill>
                  <a:srgbClr val="12263A"/>
                </a:solidFill>
                <a:latin typeface="Arial"/>
                <a:cs typeface="Arial"/>
              </a:rPr>
              <a:t>Tijek obrade poruke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7F6BEA-6F83-4EF0-A0F7-F116A1970488}"/>
              </a:ext>
            </a:extLst>
          </p:cNvPr>
          <p:cNvSpPr/>
          <p:nvPr/>
        </p:nvSpPr>
        <p:spPr>
          <a:xfrm>
            <a:off x="658368" y="1170432"/>
            <a:ext cx="2011680" cy="54864"/>
          </a:xfrm>
          <a:prstGeom prst="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hr-H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571158-1FC2-4148-B802-DCBA3205E748}"/>
              </a:ext>
            </a:extLst>
          </p:cNvPr>
          <p:cNvSpPr txBox="1"/>
          <p:nvPr/>
        </p:nvSpPr>
        <p:spPr>
          <a:xfrm>
            <a:off x="10698480" y="6419088"/>
            <a:ext cx="1325880" cy="32004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r"/>
            <a:r>
              <a:rPr lang="hr-HR" sz="1200">
                <a:solidFill>
                  <a:srgbClr val="808080"/>
                </a:solidFill>
                <a:latin typeface="Arial"/>
                <a:cs typeface="Arial"/>
              </a:rPr>
              <a:t>7 / 19</a:t>
            </a:r>
          </a:p>
        </p:txBody>
      </p:sp>
    </p:spTree>
    <p:extLst>
      <p:ext uri="{BB962C8B-B14F-4D97-AF65-F5344CB8AC3E}">
        <p14:creationId xmlns:p14="http://schemas.microsoft.com/office/powerpoint/2010/main" val="127865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2263A"/>
                </a:solidFill>
                <a:latin typeface="Arial"/>
              </a:rPr>
              <a:t>Deduplikacija i idempotentnost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2011680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6675120" cy="2984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Jedinstveni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msg_id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= {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device_id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}-{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epoch_ms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}-{counter}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Provjera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u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Redisu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: EXISTS,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složenost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O(1), &lt; 1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ms</a:t>
            </a:r>
            <a:endParaRPr sz="20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Poznat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identifikator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→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poruka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se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odbacuje</a:t>
            </a:r>
            <a:endParaRPr sz="20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●  Novi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identifikator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→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upis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u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bazu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zatim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SET EX 3600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●  TTL 3600 s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pokriva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sve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realne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prozore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retransmisije</a:t>
            </a:r>
            <a:endParaRPr sz="20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Odvojeni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prostori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ključeva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: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dedup:ingestion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/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dedup:alerting</a:t>
            </a:r>
            <a:endParaRPr sz="2000" b="0" i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4" descr="raw_p2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189" y="457199"/>
            <a:ext cx="3270851" cy="5714803"/>
          </a:xfrm>
          <a:prstGeom prst="rect">
            <a:avLst/>
          </a:prstGeom>
          <a:ln w="9525">
            <a:solidFill>
              <a:srgbClr val="CFD8D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56461" y="6297792"/>
            <a:ext cx="4206240" cy="206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1" dirty="0">
                <a:solidFill>
                  <a:srgbClr val="808080"/>
                </a:solidFill>
                <a:latin typeface="Arial"/>
              </a:rPr>
              <a:t>Tok </a:t>
            </a:r>
            <a:r>
              <a:rPr sz="1300" b="0" i="1" dirty="0" err="1">
                <a:solidFill>
                  <a:srgbClr val="808080"/>
                </a:solidFill>
                <a:latin typeface="Arial"/>
              </a:rPr>
              <a:t>odluke</a:t>
            </a:r>
            <a:r>
              <a:rPr sz="1300" b="0" i="1" dirty="0">
                <a:solidFill>
                  <a:srgbClr val="808080"/>
                </a:solidFill>
                <a:latin typeface="Arial"/>
              </a:rPr>
              <a:t> </a:t>
            </a:r>
            <a:r>
              <a:rPr sz="1300" b="0" i="1" dirty="0" err="1">
                <a:solidFill>
                  <a:srgbClr val="808080"/>
                </a:solidFill>
                <a:latin typeface="Arial"/>
              </a:rPr>
              <a:t>pri</a:t>
            </a:r>
            <a:r>
              <a:rPr sz="1300" b="0" i="1" dirty="0">
                <a:solidFill>
                  <a:srgbClr val="808080"/>
                </a:solidFill>
                <a:latin typeface="Arial"/>
              </a:rPr>
              <a:t> </a:t>
            </a:r>
            <a:r>
              <a:rPr sz="1300" b="0" i="1" dirty="0" err="1">
                <a:solidFill>
                  <a:srgbClr val="808080"/>
                </a:solidFill>
                <a:latin typeface="Arial"/>
              </a:rPr>
              <a:t>deduplikaciji</a:t>
            </a:r>
            <a:endParaRPr sz="1300" b="0" i="1" dirty="0">
              <a:solidFill>
                <a:srgbClr val="80808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98480" y="641908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i="0">
                <a:solidFill>
                  <a:srgbClr val="808080"/>
                </a:solidFill>
                <a:latin typeface="Arial"/>
                <a:cs typeface="Arial"/>
              </a:rPr>
              <a:t>8 / 19</a:t>
            </a:r>
            <a:endParaRPr sz="1200" i="0">
              <a:solidFill>
                <a:srgbClr val="80808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9454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2263A"/>
                </a:solidFill>
                <a:latin typeface="Arial"/>
              </a:rPr>
              <a:t>Slojevi pouzdanosti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2011680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316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Pouzdanost počiva na komplementarnim slojevima, ne na jednom mehanizmu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5394960" cy="1737360"/>
          </a:xfrm>
          <a:prstGeom prst="roundRect">
            <a:avLst/>
          </a:prstGeom>
          <a:solidFill>
            <a:srgbClr val="EEF3F6"/>
          </a:solidFill>
          <a:ln w="12700" cap="flat" cmpd="sng" algn="ctr">
            <a:solidFill>
              <a:srgbClr val="2E86AB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 dirty="0">
                <a:solidFill>
                  <a:srgbClr val="12263A"/>
                </a:solidFill>
                <a:latin typeface="Arial"/>
              </a:rPr>
              <a:t>Uređaj ESP32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–  Kružni međuspremnik (engl. </a:t>
            </a:r>
            <a:r>
              <a:rPr sz="2000" b="0" i="1" dirty="0">
                <a:solidFill>
                  <a:srgbClr val="000000"/>
                </a:solidFill>
                <a:latin typeface="Arial"/>
              </a:rPr>
              <a:t>outbox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–  Neblokirajuće ponovno spajanje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65960"/>
            <a:ext cx="5394960" cy="1737360"/>
          </a:xfrm>
          <a:prstGeom prst="roundRect">
            <a:avLst/>
          </a:prstGeom>
          <a:solidFill>
            <a:srgbClr val="EEF3F6"/>
          </a:solidFill>
          <a:ln w="12700" cap="flat" cmpd="sng" algn="ctr">
            <a:solidFill>
              <a:srgbClr val="2E86AB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 dirty="0">
                <a:solidFill>
                  <a:srgbClr val="12263A"/>
                </a:solidFill>
                <a:latin typeface="Arial"/>
              </a:rPr>
              <a:t>Posrednik Mosquitto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–  Perzistentna sesija (</a:t>
            </a:r>
            <a:r>
              <a:rPr sz="1800" b="0" i="0" dirty="0">
                <a:solidFill>
                  <a:srgbClr val="000000"/>
                </a:solidFill>
                <a:latin typeface="Consolas"/>
              </a:rPr>
              <a:t>cleanSession=false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–  Perzistencija na disk (</a:t>
            </a:r>
            <a:r>
              <a:rPr sz="1800" b="0" i="0" dirty="0">
                <a:solidFill>
                  <a:srgbClr val="000000"/>
                </a:solidFill>
                <a:latin typeface="Consolas"/>
              </a:rPr>
              <a:t>persistence true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1908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i="0">
                <a:solidFill>
                  <a:srgbClr val="808080"/>
                </a:solidFill>
                <a:latin typeface="Arial"/>
                <a:cs typeface="Arial"/>
              </a:rPr>
              <a:t>9 / 19</a:t>
            </a:r>
            <a:endParaRPr sz="1200" i="0">
              <a:solidFill>
                <a:srgbClr val="808080"/>
              </a:solidFill>
              <a:latin typeface="Arial"/>
              <a:cs typeface="Arial"/>
            </a:endParaRPr>
          </a:p>
        </p:txBody>
      </p:sp>
      <p:sp>
        <p:nvSpPr>
          <p:cNvPr id="20" name="Tile Servis"/>
          <p:cNvSpPr/>
          <p:nvPr/>
        </p:nvSpPr>
        <p:spPr>
          <a:xfrm>
            <a:off x="548640" y="3840480"/>
            <a:ext cx="5394960" cy="1737360"/>
          </a:xfrm>
          <a:prstGeom prst="roundRect">
            <a:avLst/>
          </a:prstGeom>
          <a:solidFill>
            <a:srgbClr val="EEF3F6"/>
          </a:solidFill>
          <a:ln w="12700" cap="flat" cmpd="sng" algn="ctr">
            <a:solidFill>
              <a:srgbClr val="2E86AB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 dirty="0">
                <a:solidFill>
                  <a:srgbClr val="12263A"/>
                </a:solidFill>
                <a:latin typeface="Arial"/>
              </a:rPr>
              <a:t>Servis Spring Boot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–  Ručno potvrđivanje primitka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–  Obnova pretplate (</a:t>
            </a:r>
            <a:r>
              <a:rPr sz="1800" b="0" i="0" dirty="0">
                <a:solidFill>
                  <a:srgbClr val="000000"/>
                </a:solidFill>
                <a:latin typeface="Consolas"/>
              </a:rPr>
              <a:t>connectComplete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21" name="Tile Aplikacijski"/>
          <p:cNvSpPr/>
          <p:nvPr/>
        </p:nvSpPr>
        <p:spPr>
          <a:xfrm>
            <a:off x="6217920" y="3840480"/>
            <a:ext cx="5394960" cy="1737360"/>
          </a:xfrm>
          <a:prstGeom prst="roundRect">
            <a:avLst/>
          </a:prstGeom>
          <a:solidFill>
            <a:srgbClr val="EEF3F6"/>
          </a:solidFill>
          <a:ln w="12700" cap="flat" cmpd="sng" algn="ctr">
            <a:solidFill>
              <a:srgbClr val="2E86AB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 dirty="0">
                <a:solidFill>
                  <a:srgbClr val="12263A"/>
                </a:solidFill>
                <a:latin typeface="Arial"/>
              </a:rPr>
              <a:t>Aplikacijski sloj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–  QoS 1 (barem jednom)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–  Redis deduplikacija, jedinstveni </a:t>
            </a:r>
            <a:r>
              <a:rPr sz="1800" b="0" i="0" dirty="0">
                <a:solidFill>
                  <a:srgbClr val="000000"/>
                </a:solidFill>
                <a:latin typeface="Consolas"/>
              </a:rPr>
              <a:t>msg_id</a:t>
            </a:r>
          </a:p>
        </p:txBody>
      </p:sp>
      <p:sp>
        <p:nvSpPr>
          <p:cNvPr id="22" name="FinalLine"/>
          <p:cNvSpPr txBox="1"/>
          <p:nvPr/>
        </p:nvSpPr>
        <p:spPr>
          <a:xfrm>
            <a:off x="548640" y="5715000"/>
            <a:ext cx="11064240" cy="316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●  Rezultat: nulti gubitak poruka i idempotentna obrada u svim scenarijima</a:t>
            </a:r>
          </a:p>
        </p:txBody>
      </p:sp>
    </p:spTree>
    <p:extLst>
      <p:ext uri="{BB962C8B-B14F-4D97-AF65-F5344CB8AC3E}">
        <p14:creationId xmlns:p14="http://schemas.microsoft.com/office/powerpoint/2010/main" val="1785640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2263A"/>
                </a:solidFill>
                <a:latin typeface="Arial"/>
              </a:rPr>
              <a:t>Ugrađeni program uređaja ESP32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2011680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5486400" cy="35337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C++ / Arduino (PlatformIO), objava svakih 5 s uz QoS 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DHT11 senzor, NTP sinkronizacija za točan timestamp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msg_id generiran po svakoj objavi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Outbox: kružni spremnik (256 unosa, drop-oldest)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Neblokirajuće ponovno spajanje na Wi-Fi i posrednika</a:t>
            </a:r>
          </a:p>
        </p:txBody>
      </p:sp>
      <p:pic>
        <p:nvPicPr>
          <p:cNvPr id="5" name="Picture 4" descr="raw_p2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422" y="1554480"/>
            <a:ext cx="5219154" cy="4206240"/>
          </a:xfrm>
          <a:prstGeom prst="rect">
            <a:avLst/>
          </a:prstGeom>
          <a:ln w="9525">
            <a:solidFill>
              <a:srgbClr val="CFD8D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0" y="5806440"/>
            <a:ext cx="5486400" cy="206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1" dirty="0" err="1">
                <a:solidFill>
                  <a:srgbClr val="808080"/>
                </a:solidFill>
                <a:latin typeface="Arial"/>
              </a:rPr>
              <a:t>Spoj</a:t>
            </a:r>
            <a:r>
              <a:rPr sz="1300" b="0" i="1" dirty="0">
                <a:solidFill>
                  <a:srgbClr val="808080"/>
                </a:solidFill>
                <a:latin typeface="Arial"/>
              </a:rPr>
              <a:t> ESP32, DHT11 </a:t>
            </a:r>
            <a:r>
              <a:rPr sz="1300" b="0" i="1" dirty="0" err="1">
                <a:solidFill>
                  <a:srgbClr val="808080"/>
                </a:solidFill>
                <a:latin typeface="Arial"/>
              </a:rPr>
              <a:t>i</a:t>
            </a:r>
            <a:r>
              <a:rPr sz="1300" b="0" i="1" dirty="0">
                <a:solidFill>
                  <a:srgbClr val="808080"/>
                </a:solidFill>
                <a:latin typeface="Arial"/>
              </a:rPr>
              <a:t> </a:t>
            </a:r>
            <a:r>
              <a:rPr sz="1300" b="0" i="1" dirty="0" err="1">
                <a:solidFill>
                  <a:srgbClr val="808080"/>
                </a:solidFill>
                <a:latin typeface="Arial"/>
              </a:rPr>
              <a:t>prekidača</a:t>
            </a:r>
            <a:endParaRPr sz="1300" b="0" i="1" dirty="0">
              <a:solidFill>
                <a:srgbClr val="80808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98480" y="641908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i="0">
                <a:solidFill>
                  <a:srgbClr val="808080"/>
                </a:solidFill>
                <a:latin typeface="Arial"/>
                <a:cs typeface="Arial"/>
              </a:rPr>
              <a:t>10 / 19</a:t>
            </a:r>
            <a:endParaRPr sz="1200" i="0">
              <a:solidFill>
                <a:srgbClr val="80808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5503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2263A"/>
                </a:solidFill>
                <a:latin typeface="Arial"/>
              </a:rPr>
              <a:t>Implementacija mikroservisa (Spring Boot)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2011680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1651000"/>
            <a:ext cx="10922000" cy="1996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Spring Boot (Java 17), Paho MQTT klijent; zajednička osnova, razdvojene odgovornosti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Servis za unos: deduplikacija (Redis) + pohrana očitanja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Servis za upozorenja: pravila (WARNING / CRITICAL) + webhook obavijesti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Ručna potvrda tek nakon uspješne obrade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Ključ idempotentnosti je redoslijed: upis u bazu → oznaka u Redis → potvrda posredniku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1908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i="0">
                <a:solidFill>
                  <a:srgbClr val="808080"/>
                </a:solidFill>
                <a:latin typeface="Arial"/>
                <a:cs typeface="Arial"/>
              </a:rPr>
              <a:t>11 / 19</a:t>
            </a:r>
            <a:endParaRPr sz="1200" i="0">
              <a:solidFill>
                <a:srgbClr val="80808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775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2263A"/>
                </a:solidFill>
                <a:latin typeface="Arial"/>
              </a:rPr>
              <a:t>Perzistencija i infrastruktura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2011680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9120" y="1371600"/>
            <a:ext cx="5394960" cy="2214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 i="0" dirty="0" err="1">
                <a:solidFill>
                  <a:srgbClr val="12263A"/>
                </a:solidFill>
                <a:latin typeface="Arial"/>
              </a:rPr>
              <a:t>Perzistencija</a:t>
            </a:r>
            <a:endParaRPr sz="2000" b="1" i="0" dirty="0">
              <a:solidFill>
                <a:srgbClr val="12263A"/>
              </a:solidFill>
              <a:latin typeface="Arial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●  PostgreSQL +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TimescaleDB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: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tablice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kao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hipertablice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particioniranje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po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vremenu</a:t>
            </a:r>
            <a:endParaRPr sz="20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●  Flyway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migracije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pri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pokretanju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servisa</a:t>
            </a:r>
            <a:endParaRPr sz="20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Latencija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=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received_at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− timestamp (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temeljna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mjera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1908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i="0">
                <a:solidFill>
                  <a:srgbClr val="808080"/>
                </a:solidFill>
                <a:latin typeface="Arial"/>
                <a:cs typeface="Arial"/>
              </a:rPr>
              <a:t>12 / 19</a:t>
            </a:r>
            <a:endParaRPr sz="1200" i="0">
              <a:solidFill>
                <a:srgbClr val="808080"/>
              </a:solidFill>
              <a:latin typeface="Arial"/>
              <a:cs typeface="Arial"/>
            </a:endParaRPr>
          </a:p>
        </p:txBody>
      </p:sp>
      <p:sp>
        <p:nvSpPr>
          <p:cNvPr id="20" name="InfraBox"/>
          <p:cNvSpPr txBox="1"/>
          <p:nvPr/>
        </p:nvSpPr>
        <p:spPr>
          <a:xfrm>
            <a:off x="6217920" y="1371600"/>
            <a:ext cx="5394960" cy="2546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 i="0">
                <a:solidFill>
                  <a:srgbClr val="12263A"/>
                </a:solidFill>
                <a:latin typeface="Arial"/>
              </a:rPr>
              <a:t>Infrastruktura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Docker Compose, 6 servisa, jedna naredba: docker compose up --build -d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depends_on + healthcheck (ispravan redoslijed pokretanja)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Višefazni Dockerfile, deterministički i ponovljiv razvoj</a:t>
            </a:r>
          </a:p>
        </p:txBody>
      </p:sp>
      <p:sp>
        <p:nvSpPr>
          <p:cNvPr id="21" name="CaptionSl24"/>
          <p:cNvSpPr txBox="1"/>
          <p:nvPr/>
        </p:nvSpPr>
        <p:spPr>
          <a:xfrm>
            <a:off x="6217920" y="6349213"/>
            <a:ext cx="5394960" cy="221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 dirty="0" err="1">
                <a:solidFill>
                  <a:srgbClr val="808080"/>
                </a:solidFill>
                <a:latin typeface="Arial"/>
              </a:rPr>
              <a:t>Topologija</a:t>
            </a:r>
            <a:r>
              <a:rPr sz="1400" b="0" i="1" dirty="0">
                <a:solidFill>
                  <a:srgbClr val="808080"/>
                </a:solidFill>
                <a:latin typeface="Arial"/>
              </a:rPr>
              <a:t> </a:t>
            </a:r>
            <a:r>
              <a:rPr sz="1400" b="0" i="1" dirty="0" err="1">
                <a:solidFill>
                  <a:srgbClr val="808080"/>
                </a:solidFill>
                <a:latin typeface="Arial"/>
              </a:rPr>
              <a:t>servisa</a:t>
            </a:r>
            <a:r>
              <a:rPr sz="1400" b="0" i="1" dirty="0">
                <a:solidFill>
                  <a:srgbClr val="808080"/>
                </a:solidFill>
                <a:latin typeface="Arial"/>
              </a:rPr>
              <a:t> u </a:t>
            </a:r>
            <a:r>
              <a:rPr sz="1400" b="0" i="1" dirty="0" err="1">
                <a:solidFill>
                  <a:srgbClr val="808080"/>
                </a:solidFill>
                <a:latin typeface="Arial"/>
              </a:rPr>
              <a:t>okruženju</a:t>
            </a:r>
            <a:r>
              <a:rPr sz="1400" b="0" i="1" dirty="0">
                <a:solidFill>
                  <a:srgbClr val="808080"/>
                </a:solidFill>
                <a:latin typeface="Arial"/>
              </a:rPr>
              <a:t> Docker Compose</a:t>
            </a:r>
          </a:p>
        </p:txBody>
      </p:sp>
      <p:pic>
        <p:nvPicPr>
          <p:cNvPr id="22" name="Copied Picture 22" descr="raw_p2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673" y="4103281"/>
            <a:ext cx="4321961" cy="2176416"/>
          </a:xfrm>
          <a:prstGeom prst="rect">
            <a:avLst/>
          </a:prstGeom>
          <a:ln w="9525">
            <a:solidFill>
              <a:srgbClr val="CFD8DC"/>
            </a:solidFill>
          </a:ln>
        </p:spPr>
      </p:pic>
    </p:spTree>
    <p:extLst>
      <p:ext uri="{BB962C8B-B14F-4D97-AF65-F5344CB8AC3E}">
        <p14:creationId xmlns:p14="http://schemas.microsoft.com/office/powerpoint/2010/main" val="500512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2263A"/>
                </a:solidFill>
                <a:latin typeface="Arial"/>
              </a:rPr>
              <a:t>Metodologija testiranja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2011680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2100" b="0" i="0" dirty="0">
                <a:solidFill>
                  <a:srgbClr val="000000"/>
                </a:solidFill>
                <a:latin typeface="Arial"/>
              </a:rPr>
              <a:t>●  Generator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opterećenja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u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Pythonu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(paho-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mqtt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), N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virtualnih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uređaja</a:t>
            </a:r>
            <a:endParaRPr sz="21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2100" b="0" i="0" dirty="0">
                <a:solidFill>
                  <a:srgbClr val="000000"/>
                </a:solidFill>
                <a:latin typeface="Arial"/>
              </a:rPr>
              <a:t>●  Isti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oblik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msg_id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kao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stvarni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ESP32 (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servisi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ih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obrađuju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istovjetno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21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Mjere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performansi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: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protok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latencija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(P50 / P95 / P99)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21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Mjere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pouzdanosti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: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gubitak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duplikati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nadoknada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nakon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kvara</a:t>
            </a:r>
            <a:endParaRPr sz="21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21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Gubitak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(%) = (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poslano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−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jedinstveno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pohranjeno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) /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poslano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× 100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21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Svaki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scenarij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iz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čistog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stanja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(TRUNCATE + FLUSHDB),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mjere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iz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SQL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upita</a:t>
            </a:r>
            <a:endParaRPr sz="21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21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Šest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000000"/>
                </a:solidFill>
                <a:latin typeface="Arial"/>
              </a:rPr>
              <a:t>scenarija</a:t>
            </a:r>
            <a:r>
              <a:rPr sz="2100" b="0" i="0" dirty="0">
                <a:solidFill>
                  <a:srgbClr val="000000"/>
                </a:solidFill>
                <a:latin typeface="Arial"/>
              </a:rPr>
              <a:t>: T1 do T6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1908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i="0">
                <a:solidFill>
                  <a:srgbClr val="808080"/>
                </a:solidFill>
                <a:latin typeface="Arial"/>
                <a:cs typeface="Arial"/>
              </a:rPr>
              <a:t>13 / 19</a:t>
            </a:r>
            <a:endParaRPr sz="1200" i="0">
              <a:solidFill>
                <a:srgbClr val="80808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5815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 i="0">
                <a:solidFill>
                  <a:srgbClr val="12263A"/>
                </a:solidFill>
                <a:latin typeface="Arial"/>
              </a:rPr>
              <a:t>Rezultati T1 i T2: stabilnost i QoS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2011680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486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dirty="0">
                <a:solidFill>
                  <a:srgbClr val="12263A"/>
                </a:solidFill>
                <a:latin typeface="Arial"/>
              </a:rPr>
              <a:t>T1 · </a:t>
            </a:r>
            <a:r>
              <a:rPr b="0" i="0" dirty="0" err="1">
                <a:solidFill>
                  <a:srgbClr val="12263A"/>
                </a:solidFill>
                <a:latin typeface="Arial"/>
              </a:rPr>
              <a:t>stabilno</a:t>
            </a:r>
            <a:r>
              <a:rPr b="0" i="0" dirty="0">
                <a:solidFill>
                  <a:srgbClr val="12263A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12263A"/>
                </a:solidFill>
                <a:latin typeface="Arial"/>
              </a:rPr>
              <a:t>opterećenje</a:t>
            </a:r>
            <a:r>
              <a:rPr b="0" i="0" dirty="0">
                <a:solidFill>
                  <a:srgbClr val="12263A"/>
                </a:solidFill>
                <a:latin typeface="Arial"/>
              </a:rPr>
              <a:t> (~20 msg/s, </a:t>
            </a:r>
            <a:r>
              <a:rPr b="0" i="0" dirty="0" err="1">
                <a:solidFill>
                  <a:srgbClr val="12263A"/>
                </a:solidFill>
                <a:latin typeface="Arial"/>
              </a:rPr>
              <a:t>prosjek</a:t>
            </a:r>
            <a:r>
              <a:rPr b="0" i="0" dirty="0">
                <a:solidFill>
                  <a:srgbClr val="12263A"/>
                </a:solidFill>
                <a:latin typeface="Arial"/>
              </a:rPr>
              <a:t> 3 </a:t>
            </a:r>
            <a:r>
              <a:rPr b="0" i="0" dirty="0" err="1">
                <a:solidFill>
                  <a:srgbClr val="12263A"/>
                </a:solidFill>
                <a:latin typeface="Arial"/>
              </a:rPr>
              <a:t>pokretanja</a:t>
            </a:r>
            <a:r>
              <a:rPr b="0" i="0" dirty="0">
                <a:solidFill>
                  <a:srgbClr val="12263A"/>
                </a:solidFill>
                <a:latin typeface="Arial"/>
              </a:rPr>
              <a:t>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991379"/>
              </p:ext>
            </p:extLst>
          </p:nvPr>
        </p:nvGraphicFramePr>
        <p:xfrm>
          <a:off x="457200" y="2006600"/>
          <a:ext cx="5486400" cy="2438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Mjera</a:t>
                      </a:r>
                    </a:p>
                  </a:txBody>
                  <a:tcPr marL="73152" marR="54864" marT="18288" marB="18288" anchor="ctr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Vrijednost</a:t>
                      </a:r>
                    </a:p>
                  </a:txBody>
                  <a:tcPr marL="73152" marR="54864" marT="18288" marB="18288" anchor="ctr"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Objavljeno / pohranjeno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2400 / 2400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Gubitak</a:t>
                      </a:r>
                    </a:p>
                  </a:txBody>
                  <a:tcPr marL="73152" marR="54864" marT="18288" marB="18288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0,0 %</a:t>
                      </a:r>
                    </a:p>
                  </a:txBody>
                  <a:tcPr marL="73152" marR="54864" marT="18288" marB="18288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P50 latencija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16,6 ms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P95 / P99 latencija</a:t>
                      </a:r>
                    </a:p>
                  </a:txBody>
                  <a:tcPr marL="73152" marR="54864" marT="18288" marB="18288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29,0 / 35,5 ms</a:t>
                      </a:r>
                    </a:p>
                  </a:txBody>
                  <a:tcPr marL="73152" marR="54864" marT="18288" marB="18288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800" b="0" i="0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Protok</a:t>
                      </a:r>
                      <a:endParaRPr sz="1800" b="0" i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20,1 msg/s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00600"/>
            <a:ext cx="5486400" cy="303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Nulti gubitak, medijan latencije ispod 20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1908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i="0">
                <a:solidFill>
                  <a:srgbClr val="808080"/>
                </a:solidFill>
                <a:latin typeface="Arial"/>
                <a:cs typeface="Arial"/>
              </a:rPr>
              <a:t>14 / 19</a:t>
            </a:r>
            <a:endParaRPr sz="1200" i="0">
              <a:solidFill>
                <a:srgbClr val="808080"/>
              </a:solidFill>
              <a:latin typeface="Arial"/>
              <a:cs typeface="Arial"/>
            </a:endParaRPr>
          </a:p>
        </p:txBody>
      </p:sp>
      <p:sp>
        <p:nvSpPr>
          <p:cNvPr id="20" name="T2sub"/>
          <p:cNvSpPr txBox="1"/>
          <p:nvPr/>
        </p:nvSpPr>
        <p:spPr>
          <a:xfrm>
            <a:off x="6263640" y="1325880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2263A"/>
                </a:solidFill>
                <a:latin typeface="Arial"/>
              </a:rPr>
              <a:t>T2 · QoS 0 nasuprot QoS 1/2 (nedostupan potrošač)</a:t>
            </a:r>
          </a:p>
        </p:txBody>
      </p:sp>
      <p:sp>
        <p:nvSpPr>
          <p:cNvPr id="21" name="T2bul"/>
          <p:cNvSpPr txBox="1"/>
          <p:nvPr/>
        </p:nvSpPr>
        <p:spPr>
          <a:xfrm>
            <a:off x="6263640" y="4521200"/>
            <a:ext cx="5486400" cy="1345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QoS 0: 100 % gubitak pri nedostupnom potrošaču (bez retransmisije)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QoS 1 i QoS 2: 0 % gubitka; izbor QoS 1 nužan za nulti gubitak</a:t>
            </a:r>
          </a:p>
        </p:txBody>
      </p:sp>
      <p:sp>
        <p:nvSpPr>
          <p:cNvPr id="22" name="Sl61cap"/>
          <p:cNvSpPr txBox="1"/>
          <p:nvPr/>
        </p:nvSpPr>
        <p:spPr>
          <a:xfrm>
            <a:off x="6263640" y="4191000"/>
            <a:ext cx="5486400" cy="221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 i="1">
                <a:solidFill>
                  <a:srgbClr val="808080"/>
                </a:solidFill>
                <a:latin typeface="Arial"/>
              </a:rPr>
              <a:t>Sl. 6.1  T2: QoS 0 nasuprot QoS 1/2 (nedostupan potrošač)</a:t>
            </a:r>
          </a:p>
        </p:txBody>
      </p:sp>
      <p:pic>
        <p:nvPicPr>
          <p:cNvPr id="23" name="Copied Picture 23" descr="chart_q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200" y="1701800"/>
            <a:ext cx="38862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38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 i="0">
                <a:solidFill>
                  <a:srgbClr val="12263A"/>
                </a:solidFill>
                <a:latin typeface="Arial"/>
              </a:rPr>
              <a:t>Rezultati T3 i T4: duplikati i kvar posrednika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2011680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2263A"/>
                </a:solidFill>
                <a:latin typeface="Arial"/>
              </a:rPr>
              <a:t>T3 · obrada duplikata (ista poruka 5×)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039565"/>
              </p:ext>
            </p:extLst>
          </p:nvPr>
        </p:nvGraphicFramePr>
        <p:xfrm>
          <a:off x="457200" y="2006600"/>
          <a:ext cx="5486400" cy="1219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Mjera</a:t>
                      </a:r>
                    </a:p>
                  </a:txBody>
                  <a:tcPr marL="73152" marR="54864" marT="18288" marB="18288" anchor="ctr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Oček.</a:t>
                      </a:r>
                    </a:p>
                  </a:txBody>
                  <a:tcPr marL="73152" marR="54864" marT="18288" marB="18288" anchor="ctr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Izmj.</a:t>
                      </a:r>
                    </a:p>
                  </a:txBody>
                  <a:tcPr marL="73152" marR="54864" marT="18288" marB="18288" anchor="ctr"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Pohranjenih redaka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Odbačenih duplikata</a:t>
                      </a:r>
                    </a:p>
                  </a:txBody>
                  <a:tcPr marL="73152" marR="54864" marT="18288" marB="18288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810000"/>
            <a:ext cx="5486400" cy="629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Prva poruka pohranjena, četiri ponovljene odbačene (msg_id + Redis EXISTS)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1908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i="0">
                <a:solidFill>
                  <a:srgbClr val="808080"/>
                </a:solidFill>
                <a:latin typeface="Arial"/>
                <a:cs typeface="Arial"/>
              </a:rPr>
              <a:t>15 / 19</a:t>
            </a:r>
            <a:endParaRPr sz="1200" i="0">
              <a:solidFill>
                <a:srgbClr val="808080"/>
              </a:solidFill>
              <a:latin typeface="Arial"/>
              <a:cs typeface="Arial"/>
            </a:endParaRPr>
          </a:p>
        </p:txBody>
      </p:sp>
      <p:sp>
        <p:nvSpPr>
          <p:cNvPr id="20" name="T4sub"/>
          <p:cNvSpPr txBox="1"/>
          <p:nvPr/>
        </p:nvSpPr>
        <p:spPr>
          <a:xfrm>
            <a:off x="6263640" y="1325880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2263A"/>
                </a:solidFill>
                <a:latin typeface="Arial"/>
              </a:rPr>
              <a:t>T4 · kvar posrednika (outbox uređaja)</a:t>
            </a:r>
          </a:p>
        </p:txBody>
      </p:sp>
      <p:sp>
        <p:nvSpPr>
          <p:cNvPr id="21" name="T4bul"/>
          <p:cNvSpPr txBox="1"/>
          <p:nvPr/>
        </p:nvSpPr>
        <p:spPr>
          <a:xfrm>
            <a:off x="6263640" y="3810000"/>
            <a:ext cx="5486400" cy="1345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Kraći prekid: nulti gubitak (reprodukcija iz međuspremnika)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Dulji prekid: kontrolirana degradacija, odbacuje najstarije (28,1 %)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28E416-9139-4315-B8D1-BEED7F8B6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686959"/>
              </p:ext>
            </p:extLst>
          </p:nvPr>
        </p:nvGraphicFramePr>
        <p:xfrm>
          <a:off x="6263640" y="2006600"/>
          <a:ext cx="54864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3990943626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1563247539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158054576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hr-HR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Varijanta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Prekid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Gubitak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34422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hr-HR" sz="18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Ispod kapaciteta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hr-HR" sz="18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300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hr-HR" sz="18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0,0 %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45035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hr-HR" sz="18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Iznad kapaciteta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hr-HR" sz="18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900 s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hr-HR" sz="18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28,1 %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812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559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hr-HR" sz="3200" b="1" dirty="0">
                <a:solidFill>
                  <a:srgbClr val="12263A"/>
                </a:solidFill>
                <a:latin typeface="Arial"/>
              </a:rPr>
              <a:t>Rezultati T5 i T6: kvar servisa i opterećenje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2011680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hr-HR" sz="1800" b="0" i="0" dirty="0">
                <a:solidFill>
                  <a:srgbClr val="12263A"/>
                </a:solidFill>
                <a:latin typeface="Arial"/>
              </a:rPr>
              <a:t>T5 · kvar servisa za unos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859744"/>
              </p:ext>
            </p:extLst>
          </p:nvPr>
        </p:nvGraphicFramePr>
        <p:xfrm>
          <a:off x="457200" y="2006600"/>
          <a:ext cx="5486400" cy="1625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Mjera</a:t>
                      </a:r>
                    </a:p>
                  </a:txBody>
                  <a:tcPr marL="73152" marR="54864" marT="18288" marB="18288" anchor="ctr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Vrijednost</a:t>
                      </a:r>
                    </a:p>
                  </a:txBody>
                  <a:tcPr marL="73152" marR="54864" marT="18288" marB="18288" anchor="ctr"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Objavljeno / pohranjeno</a:t>
                      </a:r>
                    </a:p>
                  </a:txBody>
                  <a:tcPr marL="73152" marR="54864" marT="18288" marB="18288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360 / 360</a:t>
                      </a:r>
                    </a:p>
                  </a:txBody>
                  <a:tcPr marL="73152" marR="54864" marT="18288" marB="18288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Gubitak / duplikati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0 % / 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Vrijeme nadoknade</a:t>
                      </a:r>
                    </a:p>
                  </a:txBody>
                  <a:tcPr marL="73152" marR="54864" marT="18288" marB="18288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3,2 s</a:t>
                      </a:r>
                    </a:p>
                  </a:txBody>
                  <a:tcPr marL="73152" marR="54864" marT="18288" marB="18288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810000"/>
            <a:ext cx="5486400" cy="955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hr-HR" sz="2000" b="0" i="0" dirty="0">
                <a:solidFill>
                  <a:srgbClr val="000000"/>
                </a:solidFill>
                <a:latin typeface="Arial"/>
              </a:rPr>
              <a:t>●  Sve poruke iz nedostupnosti isporučene, bez gubitka i duplikata (cleanSession=false + perzistencija)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1908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i="0">
                <a:solidFill>
                  <a:srgbClr val="808080"/>
                </a:solidFill>
                <a:latin typeface="Arial"/>
                <a:cs typeface="Arial"/>
              </a:rPr>
              <a:t>16 / 19</a:t>
            </a:r>
            <a:endParaRPr sz="1200" i="0">
              <a:solidFill>
                <a:srgbClr val="808080"/>
              </a:solidFill>
              <a:latin typeface="Arial"/>
              <a:cs typeface="Arial"/>
            </a:endParaRPr>
          </a:p>
        </p:txBody>
      </p:sp>
      <p:sp>
        <p:nvSpPr>
          <p:cNvPr id="20" name="RightSubtitle"/>
          <p:cNvSpPr txBox="1"/>
          <p:nvPr/>
        </p:nvSpPr>
        <p:spPr>
          <a:xfrm>
            <a:off x="6263640" y="1325880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hr-HR" sz="1800" b="0" i="0" dirty="0">
                <a:solidFill>
                  <a:srgbClr val="12263A"/>
                </a:solidFill>
                <a:latin typeface="Arial"/>
              </a:rPr>
              <a:t>T6 · deduplikacija pod opterećenjem (~385 msg/s)</a:t>
            </a:r>
          </a:p>
        </p:txBody>
      </p:sp>
      <p:sp>
        <p:nvSpPr>
          <p:cNvPr id="21" name="RightBullet"/>
          <p:cNvSpPr txBox="1"/>
          <p:nvPr/>
        </p:nvSpPr>
        <p:spPr>
          <a:xfrm>
            <a:off x="6263640" y="3810000"/>
            <a:ext cx="5486400" cy="629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hr-HR" sz="2000" b="0" i="0" dirty="0">
                <a:solidFill>
                  <a:srgbClr val="000000"/>
                </a:solidFill>
                <a:latin typeface="Arial"/>
              </a:rPr>
              <a:t>●  Nulti gubitak i nula duplikata i pri dvostrukom preopterećenju (protupritisak, ne odbacivanje)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EB4239B-D8BA-4F98-A80B-90AE6360C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582892"/>
              </p:ext>
            </p:extLst>
          </p:nvPr>
        </p:nvGraphicFramePr>
        <p:xfrm>
          <a:off x="6263640" y="2006600"/>
          <a:ext cx="5486400" cy="16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326461893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632213366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hr-HR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Mjera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Vrijednost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98432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hr-HR" sz="18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Objavljeno / pohranjeno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hr-HR" sz="18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23566 / 23566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1402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hr-HR" sz="18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Gubitak / duplikati u bazi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hr-HR" sz="18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0 % /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56871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hr-HR" sz="18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Redis zauzeće (47132 ključa)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hr-HR" sz="18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6,67 MB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49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049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12263A"/>
                </a:solidFill>
                <a:latin typeface="Arial"/>
              </a:rPr>
              <a:t>Analiza rezultata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2011680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2514600" cy="1371600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2263A"/>
                </a:solidFill>
                <a:latin typeface="Arial"/>
              </a:rPr>
              <a:t>0 %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gubitak poruka</a:t>
            </a:r>
            <a:br/>
            <a:r>
              <a:rPr sz="1800" b="0" i="0">
                <a:solidFill>
                  <a:srgbClr val="000000"/>
                </a:solidFill>
                <a:latin typeface="Arial"/>
              </a:rPr>
              <a:t>(svi scenariji)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554480"/>
            <a:ext cx="2514600" cy="1371600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2263A"/>
                </a:solidFill>
                <a:latin typeface="Arial"/>
              </a:rPr>
              <a:t>0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duplikata u bazi</a:t>
            </a:r>
            <a:br/>
            <a:r>
              <a:rPr sz="1800" b="0" i="0">
                <a:solidFill>
                  <a:srgbClr val="000000"/>
                </a:solidFill>
                <a:latin typeface="Arial"/>
              </a:rPr>
              <a:t>(T3, T6)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554480"/>
            <a:ext cx="2514600" cy="1371600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2263A"/>
                </a:solidFill>
                <a:latin typeface="Arial"/>
              </a:rPr>
              <a:t>16,6 ms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medijan latencije</a:t>
            </a:r>
            <a:br/>
            <a:r>
              <a:rPr sz="1800" b="0" i="0">
                <a:solidFill>
                  <a:srgbClr val="000000"/>
                </a:solidFill>
                <a:latin typeface="Arial"/>
              </a:rPr>
              <a:t>(T1)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554480"/>
            <a:ext cx="2651760" cy="1371600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D5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2263A"/>
                </a:solidFill>
                <a:latin typeface="Arial"/>
              </a:rPr>
              <a:t>3,2 s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vrijeme nadoknade</a:t>
            </a:r>
            <a:br/>
            <a:r>
              <a:rPr sz="1800" b="0" i="0">
                <a:solidFill>
                  <a:srgbClr val="000000"/>
                </a:solidFill>
                <a:latin typeface="Arial"/>
              </a:rPr>
              <a:t>(T5)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607040" cy="1866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Potvrđena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glavna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teza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: QoS 1 +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deduplikacija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+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perzistentna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sesija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→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nulti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gubitak</a:t>
            </a:r>
            <a:endParaRPr sz="20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Ispravnost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deduplikacije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potvrđena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izravno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(T3)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i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pod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opterećenjem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(T6)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●  Pri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praćenju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opterećenja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: P50 &lt; 20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ms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, P99 &lt; 100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ms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(Redis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i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baza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nisu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usko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grlo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●  Pri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preopterećenju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ili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kvaru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: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postupna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degradacija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uz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nulti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gubitak</a:t>
            </a:r>
            <a:endParaRPr sz="200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98480" y="641908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i="0">
                <a:solidFill>
                  <a:srgbClr val="808080"/>
                </a:solidFill>
                <a:latin typeface="Arial"/>
                <a:cs typeface="Arial"/>
              </a:rPr>
              <a:t>17 / 19</a:t>
            </a:r>
            <a:endParaRPr sz="1200" i="0">
              <a:solidFill>
                <a:srgbClr val="80808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9687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12263A"/>
                </a:solidFill>
                <a:latin typeface="Arial"/>
              </a:rPr>
              <a:t>Ograničenja i smjerovi nadogradnje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2011680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5500" y="1333500"/>
            <a:ext cx="10515600" cy="21430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i="0" dirty="0" err="1">
                <a:solidFill>
                  <a:srgbClr val="12263A"/>
                </a:solidFill>
                <a:latin typeface="Arial"/>
              </a:rPr>
              <a:t>Ograničenja</a:t>
            </a:r>
            <a:r>
              <a:rPr sz="2000" b="1" i="0" dirty="0">
                <a:solidFill>
                  <a:srgbClr val="12263A"/>
                </a:solidFill>
                <a:latin typeface="Arial"/>
              </a:rPr>
              <a:t>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Dulji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prekid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od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kapaciteta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međuspremnika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: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gubitak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28,1 % (outbox 256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unosa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, drop-oldest)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●  Bez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jedinstvenog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indeksa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na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Consolas"/>
              </a:rPr>
              <a:t>msg_id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u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bazi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(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ograničenje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hipertablica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), idempotentnost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počiva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na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Redisu</a:t>
            </a:r>
            <a:endParaRPr sz="2000" b="0" i="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●  Bez TLS-a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i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provjere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autentičnosti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na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posredniku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(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prototip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u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izoliranoj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mreži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● 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Jednonitni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potrošač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: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jednostavan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i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bez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zaključavanja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,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ali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ne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skalira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00000"/>
                </a:solidFill>
                <a:latin typeface="Arial"/>
              </a:rPr>
              <a:t>horizontalno</a:t>
            </a:r>
            <a:endParaRPr sz="200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5500" y="4127500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12263A"/>
                </a:solidFill>
                <a:latin typeface="Arial"/>
              </a:rPr>
              <a:t>Smjerovi nadogradnje: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597400"/>
            <a:ext cx="10198100" cy="947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 dirty="0">
                <a:solidFill>
                  <a:srgbClr val="000000"/>
                </a:solidFill>
                <a:latin typeface="Arial"/>
              </a:rPr>
              <a:t>–  TLS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i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provjera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autentičnosti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na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posredniku</a:t>
            </a:r>
            <a:endParaRPr sz="1800" b="0" i="0" dirty="0">
              <a:solidFill>
                <a:srgbClr val="000000"/>
              </a:solidFill>
              <a:latin typeface="Arial"/>
            </a:endParaRPr>
          </a:p>
          <a:p>
            <a:pPr marL="228600" indent="-22860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 dirty="0">
                <a:solidFill>
                  <a:srgbClr val="000000"/>
                </a:solidFill>
                <a:latin typeface="Arial"/>
              </a:rPr>
              <a:t>– 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sabirnica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poput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Kafke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/RabbitMQ za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horizontalno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skaliranje</a:t>
            </a:r>
            <a:endParaRPr sz="1800" b="0" i="0" dirty="0">
              <a:solidFill>
                <a:srgbClr val="000000"/>
              </a:solidFill>
              <a:latin typeface="Arial"/>
            </a:endParaRPr>
          </a:p>
          <a:p>
            <a:pPr marL="228600" indent="-228600"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 dirty="0">
                <a:solidFill>
                  <a:srgbClr val="000000"/>
                </a:solidFill>
                <a:latin typeface="Arial"/>
              </a:rPr>
              <a:t>– 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prelazak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na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 Kubernetes,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napredne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mogućnosti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TimescaleDB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1908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i="0">
                <a:solidFill>
                  <a:srgbClr val="808080"/>
                </a:solidFill>
                <a:latin typeface="Arial"/>
                <a:cs typeface="Arial"/>
              </a:rPr>
              <a:t>18 / 19</a:t>
            </a:r>
            <a:endParaRPr sz="1200" i="0">
              <a:solidFill>
                <a:srgbClr val="80808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7458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12263A"/>
                </a:solidFill>
                <a:latin typeface="Arial"/>
              </a:rPr>
              <a:t>Zaključak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2011680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24000"/>
            <a:ext cx="10515600" cy="2205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Implementiran prototip pouzdane obrade IoT telemetrije (ESP32 → Mosquitto → servisi → baza)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Ključni doprinos: slojevita strategija pouzdanosti s aplikacijskom deduplikacijom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Nulti gubitak i ispravno suzbijanje duplikata u svih šest scenarija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●  Stabilno opterećenje: medijan latencije ispod 20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19088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200" i="0">
                <a:solidFill>
                  <a:srgbClr val="808080"/>
                </a:solidFill>
                <a:latin typeface="Arial"/>
                <a:cs typeface="Arial"/>
              </a:rPr>
              <a:t>19 / 19</a:t>
            </a:r>
            <a:endParaRPr sz="1200" i="0">
              <a:solidFill>
                <a:srgbClr val="80808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7349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901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537DD9-4618-4AA3-B7D9-C834BF7BCFF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519bfd7-cf7e-419e-b3ed-80ecea671e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2980</Words>
  <Application>Microsoft Office PowerPoint</Application>
  <PresentationFormat>Widescreen</PresentationFormat>
  <Paragraphs>399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 Iveković</dc:creator>
  <cp:lastModifiedBy>Luka Iveković</cp:lastModifiedBy>
  <cp:revision>124</cp:revision>
  <dcterms:created xsi:type="dcterms:W3CDTF">2026-07-13T08:11:44Z</dcterms:created>
  <dcterms:modified xsi:type="dcterms:W3CDTF">2026-07-16T01:46:03Z</dcterms:modified>
</cp:coreProperties>
</file>